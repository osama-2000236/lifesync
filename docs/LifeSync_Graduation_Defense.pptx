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(30s): Good morning. We are presenting LifeSync — an AI assistant that lets you manage your health and your money by simply talking to it, in English or Arabic. Three parts: the product and platform, the AI engine, and features, quality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(30s): Quick map of the talk. Osama covers what we built and the platform it runs on. Abdallah opens the AI engine. Adam closes with features, the quality story, and where the project goes next. Roughly six and a half minutes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OSAMA (10s): Part one — why this exists and what it runs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OSAMA (75s): The core problem is friction. People do not fail at health or budgeting because they lack dashboards — they fail because every data point costs taps and forms. Second, the tools are siloed: your sleep affects your spending and vice versa, but your fitness app and your budget app never meet. Third, Arabic-speaking users barely have options. LifeSync attacks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OSAMA (80s): LifeSync is a chat-first assistant. You tell it what happened — typed or spoken, Arabic or English — and it extracts structured data: this Arabic sentence becomes a categorized 15-shekel transport expense in under half a second, measured on production. One sentence can hit both domains at once and the entries get cross-linked, which feeds the correlation insights Adam will show. Around the chat sit dashboards, goals, weekly PDF reports, streaks, and wearable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OSAMA (70s): Standard three tiers with one twist. React SPA on Cloudflare's edge; Express API on Railway streaming replies over server-sent events; MySQL through Sequelize with Redis for ephemeral state. The twist is the AI layer: intent classification runs on our own fine-tuned BERT — user text is NOT sent to a third party just to figure out what the user meant — only the generative reply goes to a cloud model. Sensitive fields are encrypted at rest with AES-256-GCM.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OSAMA (60s): This is a live product, not a laptop demo. The SPA ships to Cloudflare's edge; the API runs containerized on Railway with managed MySQL and Redis. Every release passes an environment preflight and a post-deploy smoke suite that checks the pages, the API, AI health and voice config. We have shipped to production more than forty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OSAMA (75s): We treat this as regulated-adjacent data. Financial amounts and health values are encrypted field-by-field at rest with AES-256-GCM — we migrated off a legacy crypto library and proved on production that old rows still decrypt while new rows use the stronger format. Auth is OTP-verified registration, bcrypt, short-lived tokens with silent refresh. Admin is role-gated, and our live QA suite literally probes every protected endpoint for 401s. OAuth callbacks are bound to single-use server nonces — we tested forged payloads against prod and they are rejected. Handing over to Abdallah for the AI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ABDALLAH (10s): Part two — how the AI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ABDALLAH (80s): The key design decision: we split understanding from talking. Track A always runs — our own BERT classifier plus a deterministic extractor turn the sentence into validated database rows. Track B generates the conversational reply with a cloud model. Why it matters: LLMs hallucinate; ledgers must not. If the user switches models mid-chat, only the personality changes — extraction is identical. It also means the numbers on the dashboard are traceable to rules, not to a model's mood.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ABDALLAH (85s): Understanding what the user meant is done by a model we fine-tuned and host ourselves. Raw BERT scores sixty to sixty-eight percent — honest number. We wrapped it in a deterministic high-precision router; the hybrid hits ninety-six point seven percent on a shadow set it never trained on. On production, unambiguous messages classify at ninety-nine percent confidence, and the full parse-categorize-store round trip for an Arabic expense is under half a second. And this is regression-gated: a golden set of bilingual cases replays in CI on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ABDALLAH (75s): The generative side is an exercise in defensive engineering. We route through OpenRouter; free-tier pools saturate, time out, and hang mid-stream — we hit all of it. So: every request names a backup model server-side; a watchdog kills streams that go silent for forty-five seconds; the context we inject is budget-capped so long histories cannot blow the prompt; and if everything fails, the data was already logged by Track A and the user gets a factual templated answer instead of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ABDALLAH (80s): Bilingual here is not a translated UI. Every turn, we detect the script the user actually wrote or spoke and answer in that language — type Arabic into an English UI, you get Arabic back; verified on production. The voice side streams speech sentence-by-sentence while the model is still generating, and supports barge-in — talk over it and it yields, like a phone assistant. There is also a consent-gated interview mode: it asks short questions out loud and every answer becomes a real logged entry. Over to Adam for what all this enables.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(10s): Part three — what the user gets, and how we know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(80s): Logging is only step one — the payoff is what the system tells you back. The insight engine is deterministic: when it says you overspend on short-sleep days, that came from linked rows, not model imagination — and it is localized into Arabic at the edge. Goals compute their own progress from live data. A scheduler builds weekly bilingual PDF reports. Streaks reward consistency, wearables sync automatically, and the assistant's long-term memory is fully user-controlled — view it, edit it, wipe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(80s): Over twelve hundred automated tests across the stack — eight ninety-one on the server, three seventeen on the client, twenty-two end-to-end. New assistant and voice modules were built under a hundred-percent coverage gate. Beyond unit tests, we built an evaluation harness for the AI itself — golden bilingual cases gate every merge. That harness caught a real bug: English conversations drifting into Chinese on a free model. We fixed the language directive and re-verified to full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(70s): Passing tests on a laptop is easy; we verify the deployed system. This week's live run: fifty-nine of fifty-nine QA probes green against production — auth posture on every endpoint, login flows, the live BERT classifier, the frontend bundle. When we migrated the encryption format, we proved on production data that old rows still decrypt and new rows round-trip. Real bilingual chat probes confirm the right intent, the right language, and the right rows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(60s): Being honest about scope: it is Arabic and English today, though the language layer was built to widen. Free-tier model pools rate-limit under global load — bring-your-own-key fixes that. Apple Health has a ready server bridge but needs the iOS app. Next steps: mobile app, bank import, deeper correlations over longer histories, and shared household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(20s): To close: LifeSync turns conversation into structured, encrypted, explainable life data — twelve hundred tests, fifty-nine of fifty-nine live production checks, ninety-six point seven percent routing accuracy, deployed and verified. Thank you — we would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33B"/>
        </a:solidFill>
      </p:bgPr>
    </p:bg>
    <p:spTree>
      <p:nvGrpSpPr>
        <p:cNvPr id="1" name=""/>
        <p:cNvGrpSpPr/>
        <p:nvPr/>
      </p:nvGrpSpPr>
      <p:grpSpPr>
        <a:xfrm>
          <a:off x="0" y="0"/>
          <a:ext cx="0" cy="0"/>
          <a:chOff x="0" y="0"/>
          <a:chExt cx="0" cy="0"/>
        </a:xfrm>
      </p:grpSpPr>
      <p:sp>
        <p:nvSpPr>
          <p:cNvPr id="2" name="Shape 0"/>
          <p:cNvSpPr/>
          <p:nvPr/>
        </p:nvSpPr>
        <p:spPr>
          <a:xfrm>
            <a:off x="5257800" y="960120"/>
            <a:ext cx="822960" cy="822960"/>
          </a:xfrm>
          <a:prstGeom prst="ellipse">
            <a:avLst/>
          </a:prstGeom>
          <a:solidFill>
            <a:srgbClr val="02C39A"/>
          </a:solidFill>
          <a:ln/>
        </p:spPr>
      </p:sp>
      <p:pic>
        <p:nvPicPr>
          <p:cNvPr id="3" name="Image 0" descr="preencoded.png">    </p:cNvPr>
          <p:cNvPicPr>
            <a:picLocks noChangeAspect="1"/>
          </p:cNvPicPr>
          <p:nvPr/>
        </p:nvPicPr>
        <p:blipFill>
          <a:blip r:embed="rId1"/>
          <a:stretch>
            <a:fillRect/>
          </a:stretch>
        </p:blipFill>
        <p:spPr>
          <a:xfrm>
            <a:off x="5438851" y="1141171"/>
            <a:ext cx="460858" cy="460858"/>
          </a:xfrm>
          <a:prstGeom prst="rect">
            <a:avLst/>
          </a:prstGeom>
        </p:spPr>
      </p:pic>
      <p:sp>
        <p:nvSpPr>
          <p:cNvPr id="4" name="Shape 1"/>
          <p:cNvSpPr/>
          <p:nvPr/>
        </p:nvSpPr>
        <p:spPr>
          <a:xfrm>
            <a:off x="6172200" y="960120"/>
            <a:ext cx="822960" cy="822960"/>
          </a:xfrm>
          <a:prstGeom prst="ellipse">
            <a:avLst/>
          </a:prstGeom>
          <a:solidFill>
            <a:srgbClr val="00A896"/>
          </a:solidFill>
          <a:ln/>
        </p:spPr>
      </p:sp>
      <p:pic>
        <p:nvPicPr>
          <p:cNvPr id="5" name="Image 1" descr="preencoded.png">    </p:cNvPr>
          <p:cNvPicPr>
            <a:picLocks noChangeAspect="1"/>
          </p:cNvPicPr>
          <p:nvPr/>
        </p:nvPicPr>
        <p:blipFill>
          <a:blip r:embed="rId2"/>
          <a:stretch>
            <a:fillRect/>
          </a:stretch>
        </p:blipFill>
        <p:spPr>
          <a:xfrm>
            <a:off x="6353251" y="1141171"/>
            <a:ext cx="460858" cy="460858"/>
          </a:xfrm>
          <a:prstGeom prst="rect">
            <a:avLst/>
          </a:prstGeom>
        </p:spPr>
      </p:pic>
      <p:sp>
        <p:nvSpPr>
          <p:cNvPr id="6" name="Text 2"/>
          <p:cNvSpPr/>
          <p:nvPr/>
        </p:nvSpPr>
        <p:spPr>
          <a:xfrm>
            <a:off x="0" y="1965960"/>
            <a:ext cx="12188952" cy="105156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LifeSync</a:t>
            </a:r>
            <a:endParaRPr lang="en-US" sz="6000" dirty="0"/>
          </a:p>
        </p:txBody>
      </p:sp>
      <p:sp>
        <p:nvSpPr>
          <p:cNvPr id="7" name="Text 3"/>
          <p:cNvSpPr/>
          <p:nvPr/>
        </p:nvSpPr>
        <p:spPr>
          <a:xfrm>
            <a:off x="1463040" y="3063240"/>
            <a:ext cx="9262872" cy="548640"/>
          </a:xfrm>
          <a:prstGeom prst="rect">
            <a:avLst/>
          </a:prstGeom>
          <a:noFill/>
          <a:ln/>
        </p:spPr>
        <p:txBody>
          <a:bodyPr wrap="square" lIns="0" tIns="0" rIns="0" bIns="0" rtlCol="0" anchor="ctr"/>
          <a:lstStyle/>
          <a:p>
            <a:pPr algn="ctr" indent="0" marL="0">
              <a:buNone/>
            </a:pPr>
            <a:r>
              <a:rPr lang="en-US" sz="1800" i="1" dirty="0">
                <a:solidFill>
                  <a:srgbClr val="BFE3DC"/>
                </a:solidFill>
                <a:latin typeface="Calibri" pitchFamily="34" charset="0"/>
                <a:ea typeface="Calibri" pitchFamily="34" charset="-122"/>
                <a:cs typeface="Calibri" pitchFamily="34" charset="-120"/>
              </a:rPr>
              <a:t>Smart Life Management — AI-powered health &amp; finance tracking through natural conversation</a:t>
            </a:r>
            <a:endParaRPr lang="en-US" sz="1800" dirty="0"/>
          </a:p>
        </p:txBody>
      </p:sp>
      <p:sp>
        <p:nvSpPr>
          <p:cNvPr id="8" name="Text 4"/>
          <p:cNvSpPr/>
          <p:nvPr/>
        </p:nvSpPr>
        <p:spPr>
          <a:xfrm>
            <a:off x="0" y="4297680"/>
            <a:ext cx="12188952"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Osama Abu Jarad      ·      Abdallah Aabed      ·      Adam Weheidi</a:t>
            </a:r>
            <a:endParaRPr lang="en-US" sz="1700" dirty="0"/>
          </a:p>
        </p:txBody>
      </p:sp>
      <p:sp>
        <p:nvSpPr>
          <p:cNvPr id="9" name="Text 5"/>
          <p:cNvSpPr/>
          <p:nvPr/>
        </p:nvSpPr>
        <p:spPr>
          <a:xfrm>
            <a:off x="0" y="4800600"/>
            <a:ext cx="12188952" cy="365760"/>
          </a:xfrm>
          <a:prstGeom prst="rect">
            <a:avLst/>
          </a:prstGeom>
          <a:noFill/>
          <a:ln/>
        </p:spPr>
        <p:txBody>
          <a:bodyPr wrap="square" lIns="0" tIns="0" rIns="0" bIns="0" rtlCol="0" anchor="ctr"/>
          <a:lstStyle/>
          <a:p>
            <a:pPr algn="ctr" indent="0" marL="0">
              <a:buNone/>
            </a:pPr>
            <a:r>
              <a:rPr lang="en-US" sz="1300" dirty="0">
                <a:solidFill>
                  <a:srgbClr val="8FB8B2"/>
                </a:solidFill>
                <a:latin typeface="Calibri" pitchFamily="34" charset="0"/>
                <a:ea typeface="Calibri" pitchFamily="34" charset="-122"/>
                <a:cs typeface="Calibri" pitchFamily="34" charset="-120"/>
              </a:rPr>
              <a:t>COMP4200 Graduation Project  ·  Birzeit University  ·  Supervisor: Dr. Ala' Hasheesh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20 minutes, three parts</a:t>
            </a:r>
            <a:endParaRPr lang="en-US" sz="3200" dirty="0"/>
          </a:p>
        </p:txBody>
      </p:sp>
      <p:sp>
        <p:nvSpPr>
          <p:cNvPr id="3" name="Text 1"/>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Each presenter owns one layer of the system</a:t>
            </a:r>
            <a:endParaRPr lang="en-US" sz="1500" dirty="0"/>
          </a:p>
        </p:txBody>
      </p:sp>
      <p:sp>
        <p:nvSpPr>
          <p:cNvPr id="4" name="Shape 2"/>
          <p:cNvSpPr/>
          <p:nvPr/>
        </p:nvSpPr>
        <p:spPr>
          <a:xfrm>
            <a:off x="548640" y="1828800"/>
            <a:ext cx="3520440" cy="3931920"/>
          </a:xfrm>
          <a:prstGeom prst="roundRect">
            <a:avLst>
              <a:gd name="adj" fmla="val 2338"/>
            </a:avLst>
          </a:prstGeom>
          <a:solidFill>
            <a:srgbClr val="EAF4F4"/>
          </a:solidFill>
          <a:ln/>
        </p:spPr>
      </p:sp>
      <p:sp>
        <p:nvSpPr>
          <p:cNvPr id="5" name="Shape 3"/>
          <p:cNvSpPr/>
          <p:nvPr/>
        </p:nvSpPr>
        <p:spPr>
          <a:xfrm>
            <a:off x="868680" y="2194560"/>
            <a:ext cx="640080" cy="64008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009498" y="2335378"/>
            <a:ext cx="358445" cy="358445"/>
          </a:xfrm>
          <a:prstGeom prst="rect">
            <a:avLst/>
          </a:prstGeom>
        </p:spPr>
      </p:pic>
      <p:sp>
        <p:nvSpPr>
          <p:cNvPr id="7" name="Text 4"/>
          <p:cNvSpPr/>
          <p:nvPr/>
        </p:nvSpPr>
        <p:spPr>
          <a:xfrm>
            <a:off x="868680" y="3063240"/>
            <a:ext cx="2926080" cy="32004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PART 1</a:t>
            </a:r>
            <a:endParaRPr lang="en-US" sz="1200" dirty="0"/>
          </a:p>
        </p:txBody>
      </p:sp>
      <p:sp>
        <p:nvSpPr>
          <p:cNvPr id="8" name="Text 5"/>
          <p:cNvSpPr/>
          <p:nvPr/>
        </p:nvSpPr>
        <p:spPr>
          <a:xfrm>
            <a:off x="868680" y="3383280"/>
            <a:ext cx="2926080" cy="411480"/>
          </a:xfrm>
          <a:prstGeom prst="rect">
            <a:avLst/>
          </a:prstGeom>
          <a:noFill/>
          <a:ln/>
        </p:spPr>
        <p:txBody>
          <a:bodyPr wrap="square" lIns="0" tIns="0" rIns="0" bIns="0" rtlCol="0" anchor="ctr"/>
          <a:lstStyle/>
          <a:p>
            <a:pPr indent="0" marL="0">
              <a:buNone/>
            </a:pPr>
            <a:r>
              <a:rPr lang="en-US" sz="1900" b="1" dirty="0">
                <a:solidFill>
                  <a:srgbClr val="16303A"/>
                </a:solidFill>
                <a:latin typeface="Cambria" pitchFamily="34" charset="0"/>
                <a:ea typeface="Cambria" pitchFamily="34" charset="-122"/>
                <a:cs typeface="Cambria" pitchFamily="34" charset="-120"/>
              </a:rPr>
              <a:t>Osama Abu Jarad</a:t>
            </a:r>
            <a:endParaRPr lang="en-US" sz="1900" dirty="0"/>
          </a:p>
        </p:txBody>
      </p:sp>
      <p:sp>
        <p:nvSpPr>
          <p:cNvPr id="9" name="Text 6"/>
          <p:cNvSpPr/>
          <p:nvPr/>
        </p:nvSpPr>
        <p:spPr>
          <a:xfrm>
            <a:off x="868680" y="3840480"/>
            <a:ext cx="2926080" cy="365760"/>
          </a:xfrm>
          <a:prstGeom prst="rect">
            <a:avLst/>
          </a:prstGeom>
          <a:noFill/>
          <a:ln/>
        </p:spPr>
        <p:txBody>
          <a:bodyPr wrap="square" lIns="0" tIns="0" rIns="0" bIns="0" rtlCol="0" anchor="ctr"/>
          <a:lstStyle/>
          <a:p>
            <a:pPr indent="0" marL="0">
              <a:buNone/>
            </a:pPr>
            <a:r>
              <a:rPr lang="en-US" sz="1450" b="1" dirty="0">
                <a:solidFill>
                  <a:srgbClr val="00A896"/>
                </a:solidFill>
                <a:latin typeface="Calibri" pitchFamily="34" charset="0"/>
                <a:ea typeface="Calibri" pitchFamily="34" charset="-122"/>
                <a:cs typeface="Calibri" pitchFamily="34" charset="-120"/>
              </a:rPr>
              <a:t>Product &amp; Platform</a:t>
            </a:r>
            <a:endParaRPr lang="en-US" sz="1450" dirty="0"/>
          </a:p>
        </p:txBody>
      </p:sp>
      <p:sp>
        <p:nvSpPr>
          <p:cNvPr id="10" name="Text 7"/>
          <p:cNvSpPr/>
          <p:nvPr/>
        </p:nvSpPr>
        <p:spPr>
          <a:xfrm>
            <a:off x="868680" y="4251960"/>
            <a:ext cx="2926080" cy="1188720"/>
          </a:xfrm>
          <a:prstGeom prst="rect">
            <a:avLst/>
          </a:prstGeom>
          <a:noFill/>
          <a:ln/>
        </p:spPr>
        <p:txBody>
          <a:bodyPr wrap="square" lIns="0" tIns="0" rIns="0" bIns="0" rtlCol="0" anchor="ctr"/>
          <a:lstStyle/>
          <a:p>
            <a:pPr indent="0" marL="0">
              <a:buNone/>
            </a:pPr>
            <a:r>
              <a:rPr lang="en-US" sz="1250" dirty="0">
                <a:solidFill>
                  <a:srgbClr val="5B7A82"/>
                </a:solidFill>
                <a:latin typeface="Calibri" pitchFamily="34" charset="0"/>
                <a:ea typeface="Calibri" pitchFamily="34" charset="-122"/>
                <a:cs typeface="Calibri" pitchFamily="34" charset="-120"/>
              </a:rPr>
              <a:t>Problem · solution · architecture · security</a:t>
            </a:r>
            <a:endParaRPr lang="en-US" sz="1250" dirty="0"/>
          </a:p>
        </p:txBody>
      </p:sp>
      <p:sp>
        <p:nvSpPr>
          <p:cNvPr id="11" name="Shape 8"/>
          <p:cNvSpPr/>
          <p:nvPr/>
        </p:nvSpPr>
        <p:spPr>
          <a:xfrm>
            <a:off x="4343400" y="1828800"/>
            <a:ext cx="3520440" cy="3931920"/>
          </a:xfrm>
          <a:prstGeom prst="roundRect">
            <a:avLst>
              <a:gd name="adj" fmla="val 2338"/>
            </a:avLst>
          </a:prstGeom>
          <a:solidFill>
            <a:srgbClr val="EAF4F4"/>
          </a:solidFill>
          <a:ln/>
        </p:spPr>
      </p:sp>
      <p:sp>
        <p:nvSpPr>
          <p:cNvPr id="12" name="Shape 9"/>
          <p:cNvSpPr/>
          <p:nvPr/>
        </p:nvSpPr>
        <p:spPr>
          <a:xfrm>
            <a:off x="4663440" y="2194560"/>
            <a:ext cx="640080" cy="640080"/>
          </a:xfrm>
          <a:prstGeom prst="ellipse">
            <a:avLst/>
          </a:prstGeom>
          <a:solidFill>
            <a:srgbClr val="028090"/>
          </a:solidFill>
          <a:ln/>
        </p:spPr>
      </p:sp>
      <p:pic>
        <p:nvPicPr>
          <p:cNvPr id="13" name="Image 1" descr="preencoded.png">    </p:cNvPr>
          <p:cNvPicPr>
            <a:picLocks noChangeAspect="1"/>
          </p:cNvPicPr>
          <p:nvPr/>
        </p:nvPicPr>
        <p:blipFill>
          <a:blip r:embed="rId2"/>
          <a:stretch>
            <a:fillRect/>
          </a:stretch>
        </p:blipFill>
        <p:spPr>
          <a:xfrm>
            <a:off x="4804258" y="2335378"/>
            <a:ext cx="358445" cy="358445"/>
          </a:xfrm>
          <a:prstGeom prst="rect">
            <a:avLst/>
          </a:prstGeom>
        </p:spPr>
      </p:pic>
      <p:sp>
        <p:nvSpPr>
          <p:cNvPr id="14" name="Text 10"/>
          <p:cNvSpPr/>
          <p:nvPr/>
        </p:nvSpPr>
        <p:spPr>
          <a:xfrm>
            <a:off x="4663440" y="3063240"/>
            <a:ext cx="2926080" cy="32004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PART 2</a:t>
            </a:r>
            <a:endParaRPr lang="en-US" sz="1200" dirty="0"/>
          </a:p>
        </p:txBody>
      </p:sp>
      <p:sp>
        <p:nvSpPr>
          <p:cNvPr id="15" name="Text 11"/>
          <p:cNvSpPr/>
          <p:nvPr/>
        </p:nvSpPr>
        <p:spPr>
          <a:xfrm>
            <a:off x="4663440" y="3383280"/>
            <a:ext cx="2926080" cy="411480"/>
          </a:xfrm>
          <a:prstGeom prst="rect">
            <a:avLst/>
          </a:prstGeom>
          <a:noFill/>
          <a:ln/>
        </p:spPr>
        <p:txBody>
          <a:bodyPr wrap="square" lIns="0" tIns="0" rIns="0" bIns="0" rtlCol="0" anchor="ctr"/>
          <a:lstStyle/>
          <a:p>
            <a:pPr indent="0" marL="0">
              <a:buNone/>
            </a:pPr>
            <a:r>
              <a:rPr lang="en-US" sz="1900" b="1" dirty="0">
                <a:solidFill>
                  <a:srgbClr val="16303A"/>
                </a:solidFill>
                <a:latin typeface="Cambria" pitchFamily="34" charset="0"/>
                <a:ea typeface="Cambria" pitchFamily="34" charset="-122"/>
                <a:cs typeface="Cambria" pitchFamily="34" charset="-120"/>
              </a:rPr>
              <a:t>Abdallah Aabed</a:t>
            </a:r>
            <a:endParaRPr lang="en-US" sz="1900" dirty="0"/>
          </a:p>
        </p:txBody>
      </p:sp>
      <p:sp>
        <p:nvSpPr>
          <p:cNvPr id="16" name="Text 12"/>
          <p:cNvSpPr/>
          <p:nvPr/>
        </p:nvSpPr>
        <p:spPr>
          <a:xfrm>
            <a:off x="4663440" y="3840480"/>
            <a:ext cx="2926080" cy="365760"/>
          </a:xfrm>
          <a:prstGeom prst="rect">
            <a:avLst/>
          </a:prstGeom>
          <a:noFill/>
          <a:ln/>
        </p:spPr>
        <p:txBody>
          <a:bodyPr wrap="square" lIns="0" tIns="0" rIns="0" bIns="0" rtlCol="0" anchor="ctr"/>
          <a:lstStyle/>
          <a:p>
            <a:pPr indent="0" marL="0">
              <a:buNone/>
            </a:pPr>
            <a:r>
              <a:rPr lang="en-US" sz="1450" b="1" dirty="0">
                <a:solidFill>
                  <a:srgbClr val="00A896"/>
                </a:solidFill>
                <a:latin typeface="Calibri" pitchFamily="34" charset="0"/>
                <a:ea typeface="Calibri" pitchFamily="34" charset="-122"/>
                <a:cs typeface="Calibri" pitchFamily="34" charset="-120"/>
              </a:rPr>
              <a:t>The AI Engine</a:t>
            </a:r>
            <a:endParaRPr lang="en-US" sz="1450" dirty="0"/>
          </a:p>
        </p:txBody>
      </p:sp>
      <p:sp>
        <p:nvSpPr>
          <p:cNvPr id="17" name="Text 13"/>
          <p:cNvSpPr/>
          <p:nvPr/>
        </p:nvSpPr>
        <p:spPr>
          <a:xfrm>
            <a:off x="4663440" y="4251960"/>
            <a:ext cx="2926080" cy="1188720"/>
          </a:xfrm>
          <a:prstGeom prst="rect">
            <a:avLst/>
          </a:prstGeom>
          <a:noFill/>
          <a:ln/>
        </p:spPr>
        <p:txBody>
          <a:bodyPr wrap="square" lIns="0" tIns="0" rIns="0" bIns="0" rtlCol="0" anchor="ctr"/>
          <a:lstStyle/>
          <a:p>
            <a:pPr indent="0" marL="0">
              <a:buNone/>
            </a:pPr>
            <a:r>
              <a:rPr lang="en-US" sz="1250" dirty="0">
                <a:solidFill>
                  <a:srgbClr val="5B7A82"/>
                </a:solidFill>
                <a:latin typeface="Calibri" pitchFamily="34" charset="0"/>
                <a:ea typeface="Calibri" pitchFamily="34" charset="-122"/>
                <a:cs typeface="Calibri" pitchFamily="34" charset="-120"/>
              </a:rPr>
              <a:t>BERT router · cloud models · bilingual · voice</a:t>
            </a:r>
            <a:endParaRPr lang="en-US" sz="1250" dirty="0"/>
          </a:p>
        </p:txBody>
      </p:sp>
      <p:sp>
        <p:nvSpPr>
          <p:cNvPr id="18" name="Shape 14"/>
          <p:cNvSpPr/>
          <p:nvPr/>
        </p:nvSpPr>
        <p:spPr>
          <a:xfrm>
            <a:off x="8138160" y="1828800"/>
            <a:ext cx="3520440" cy="3931920"/>
          </a:xfrm>
          <a:prstGeom prst="roundRect">
            <a:avLst>
              <a:gd name="adj" fmla="val 2338"/>
            </a:avLst>
          </a:prstGeom>
          <a:solidFill>
            <a:srgbClr val="EAF4F4"/>
          </a:solidFill>
          <a:ln/>
        </p:spPr>
      </p:sp>
      <p:sp>
        <p:nvSpPr>
          <p:cNvPr id="19" name="Shape 15"/>
          <p:cNvSpPr/>
          <p:nvPr/>
        </p:nvSpPr>
        <p:spPr>
          <a:xfrm>
            <a:off x="8458200" y="2194560"/>
            <a:ext cx="640080" cy="640080"/>
          </a:xfrm>
          <a:prstGeom prst="ellipse">
            <a:avLst/>
          </a:prstGeom>
          <a:solidFill>
            <a:srgbClr val="028090"/>
          </a:solidFill>
          <a:ln/>
        </p:spPr>
      </p:sp>
      <p:pic>
        <p:nvPicPr>
          <p:cNvPr id="20" name="Image 2" descr="preencoded.png">    </p:cNvPr>
          <p:cNvPicPr>
            <a:picLocks noChangeAspect="1"/>
          </p:cNvPicPr>
          <p:nvPr/>
        </p:nvPicPr>
        <p:blipFill>
          <a:blip r:embed="rId3"/>
          <a:stretch>
            <a:fillRect/>
          </a:stretch>
        </p:blipFill>
        <p:spPr>
          <a:xfrm>
            <a:off x="8599018" y="2335378"/>
            <a:ext cx="358445" cy="358445"/>
          </a:xfrm>
          <a:prstGeom prst="rect">
            <a:avLst/>
          </a:prstGeom>
        </p:spPr>
      </p:pic>
      <p:sp>
        <p:nvSpPr>
          <p:cNvPr id="21" name="Text 16"/>
          <p:cNvSpPr/>
          <p:nvPr/>
        </p:nvSpPr>
        <p:spPr>
          <a:xfrm>
            <a:off x="8458200" y="3063240"/>
            <a:ext cx="2926080" cy="32004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PART 3</a:t>
            </a:r>
            <a:endParaRPr lang="en-US" sz="1200" dirty="0"/>
          </a:p>
        </p:txBody>
      </p:sp>
      <p:sp>
        <p:nvSpPr>
          <p:cNvPr id="22" name="Text 17"/>
          <p:cNvSpPr/>
          <p:nvPr/>
        </p:nvSpPr>
        <p:spPr>
          <a:xfrm>
            <a:off x="8458200" y="3383280"/>
            <a:ext cx="2926080" cy="411480"/>
          </a:xfrm>
          <a:prstGeom prst="rect">
            <a:avLst/>
          </a:prstGeom>
          <a:noFill/>
          <a:ln/>
        </p:spPr>
        <p:txBody>
          <a:bodyPr wrap="square" lIns="0" tIns="0" rIns="0" bIns="0" rtlCol="0" anchor="ctr"/>
          <a:lstStyle/>
          <a:p>
            <a:pPr indent="0" marL="0">
              <a:buNone/>
            </a:pPr>
            <a:r>
              <a:rPr lang="en-US" sz="1900" b="1" dirty="0">
                <a:solidFill>
                  <a:srgbClr val="16303A"/>
                </a:solidFill>
                <a:latin typeface="Cambria" pitchFamily="34" charset="0"/>
                <a:ea typeface="Cambria" pitchFamily="34" charset="-122"/>
                <a:cs typeface="Cambria" pitchFamily="34" charset="-120"/>
              </a:rPr>
              <a:t>Adam Weheidi</a:t>
            </a:r>
            <a:endParaRPr lang="en-US" sz="1900" dirty="0"/>
          </a:p>
        </p:txBody>
      </p:sp>
      <p:sp>
        <p:nvSpPr>
          <p:cNvPr id="23" name="Text 18"/>
          <p:cNvSpPr/>
          <p:nvPr/>
        </p:nvSpPr>
        <p:spPr>
          <a:xfrm>
            <a:off x="8458200" y="3840480"/>
            <a:ext cx="2926080" cy="365760"/>
          </a:xfrm>
          <a:prstGeom prst="rect">
            <a:avLst/>
          </a:prstGeom>
          <a:noFill/>
          <a:ln/>
        </p:spPr>
        <p:txBody>
          <a:bodyPr wrap="square" lIns="0" tIns="0" rIns="0" bIns="0" rtlCol="0" anchor="ctr"/>
          <a:lstStyle/>
          <a:p>
            <a:pPr indent="0" marL="0">
              <a:buNone/>
            </a:pPr>
            <a:r>
              <a:rPr lang="en-US" sz="1450" b="1" dirty="0">
                <a:solidFill>
                  <a:srgbClr val="00A896"/>
                </a:solidFill>
                <a:latin typeface="Calibri" pitchFamily="34" charset="0"/>
                <a:ea typeface="Calibri" pitchFamily="34" charset="-122"/>
                <a:cs typeface="Calibri" pitchFamily="34" charset="-120"/>
              </a:rPr>
              <a:t>Features, Quality, Results</a:t>
            </a:r>
            <a:endParaRPr lang="en-US" sz="1450" dirty="0"/>
          </a:p>
        </p:txBody>
      </p:sp>
      <p:sp>
        <p:nvSpPr>
          <p:cNvPr id="24" name="Text 19"/>
          <p:cNvSpPr/>
          <p:nvPr/>
        </p:nvSpPr>
        <p:spPr>
          <a:xfrm>
            <a:off x="8458200" y="4251960"/>
            <a:ext cx="2926080" cy="1188720"/>
          </a:xfrm>
          <a:prstGeom prst="rect">
            <a:avLst/>
          </a:prstGeom>
          <a:noFill/>
          <a:ln/>
        </p:spPr>
        <p:txBody>
          <a:bodyPr wrap="square" lIns="0" tIns="0" rIns="0" bIns="0" rtlCol="0" anchor="ctr"/>
          <a:lstStyle/>
          <a:p>
            <a:pPr indent="0" marL="0">
              <a:buNone/>
            </a:pPr>
            <a:r>
              <a:rPr lang="en-US" sz="1250" dirty="0">
                <a:solidFill>
                  <a:srgbClr val="5B7A82"/>
                </a:solidFill>
                <a:latin typeface="Calibri" pitchFamily="34" charset="0"/>
                <a:ea typeface="Calibri" pitchFamily="34" charset="-122"/>
                <a:cs typeface="Calibri" pitchFamily="34" charset="-120"/>
              </a:rPr>
              <a:t>Insights · testing · live verification · future work</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333B"/>
        </a:solidFill>
      </p:bgPr>
    </p:bg>
    <p:spTree>
      <p:nvGrpSpPr>
        <p:cNvPr id="1" name=""/>
        <p:cNvGrpSpPr/>
        <p:nvPr/>
      </p:nvGrpSpPr>
      <p:grpSpPr>
        <a:xfrm>
          <a:off x="0" y="0"/>
          <a:ext cx="0" cy="0"/>
          <a:chOff x="0" y="0"/>
          <a:chExt cx="0" cy="0"/>
        </a:xfrm>
      </p:grpSpPr>
      <p:sp>
        <p:nvSpPr>
          <p:cNvPr id="2" name="Shape 0"/>
          <p:cNvSpPr/>
          <p:nvPr/>
        </p:nvSpPr>
        <p:spPr>
          <a:xfrm>
            <a:off x="548640" y="1828800"/>
            <a:ext cx="914400" cy="914400"/>
          </a:xfrm>
          <a:prstGeom prst="ellipse">
            <a:avLst/>
          </a:prstGeom>
          <a:solidFill>
            <a:srgbClr val="02C39A"/>
          </a:solidFill>
          <a:ln/>
        </p:spPr>
      </p:sp>
      <p:pic>
        <p:nvPicPr>
          <p:cNvPr id="3" name="Image 0" descr="preencoded.png">    </p:cNvPr>
          <p:cNvPicPr>
            <a:picLocks noChangeAspect="1"/>
          </p:cNvPicPr>
          <p:nvPr/>
        </p:nvPicPr>
        <p:blipFill>
          <a:blip r:embed="rId1"/>
          <a:stretch>
            <a:fillRect/>
          </a:stretch>
        </p:blipFill>
        <p:spPr>
          <a:xfrm>
            <a:off x="749808" y="2029968"/>
            <a:ext cx="512064" cy="512064"/>
          </a:xfrm>
          <a:prstGeom prst="rect">
            <a:avLst/>
          </a:prstGeom>
        </p:spPr>
      </p:pic>
      <p:sp>
        <p:nvSpPr>
          <p:cNvPr id="4" name="Text 1"/>
          <p:cNvSpPr/>
          <p:nvPr/>
        </p:nvSpPr>
        <p:spPr>
          <a:xfrm>
            <a:off x="548640" y="2880360"/>
            <a:ext cx="7315200" cy="411480"/>
          </a:xfrm>
          <a:prstGeom prst="rect">
            <a:avLst/>
          </a:prstGeom>
          <a:noFill/>
          <a:ln/>
        </p:spPr>
        <p:txBody>
          <a:bodyPr wrap="square" lIns="0" tIns="0" rIns="0" bIns="0" rtlCol="0" anchor="ctr"/>
          <a:lstStyle/>
          <a:p>
            <a:pPr indent="0" marL="0">
              <a:buNone/>
            </a:pPr>
            <a:r>
              <a:rPr lang="en-US" sz="1600" b="1" spc="200" kern="0" dirty="0">
                <a:solidFill>
                  <a:srgbClr val="02C39A"/>
                </a:solidFill>
                <a:latin typeface="Calibri" pitchFamily="34" charset="0"/>
                <a:ea typeface="Calibri" pitchFamily="34" charset="-122"/>
                <a:cs typeface="Calibri" pitchFamily="34" charset="-120"/>
              </a:rPr>
              <a:t>PART 1 · OSAMA ABU JARAD</a:t>
            </a:r>
            <a:endParaRPr lang="en-US" sz="1600" dirty="0"/>
          </a:p>
        </p:txBody>
      </p:sp>
      <p:sp>
        <p:nvSpPr>
          <p:cNvPr id="5" name="Text 2"/>
          <p:cNvSpPr/>
          <p:nvPr/>
        </p:nvSpPr>
        <p:spPr>
          <a:xfrm>
            <a:off x="548640" y="329184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Product &amp; Platform</a:t>
            </a:r>
            <a:endParaRPr lang="en-US" sz="4000" dirty="0"/>
          </a:p>
        </p:txBody>
      </p:sp>
      <p:sp>
        <p:nvSpPr>
          <p:cNvPr id="6" name="Text 3"/>
          <p:cNvSpPr/>
          <p:nvPr/>
        </p:nvSpPr>
        <p:spPr>
          <a:xfrm>
            <a:off x="548640" y="4343400"/>
            <a:ext cx="10515600" cy="457200"/>
          </a:xfrm>
          <a:prstGeom prst="rect">
            <a:avLst/>
          </a:prstGeom>
          <a:noFill/>
          <a:ln/>
        </p:spPr>
        <p:txBody>
          <a:bodyPr wrap="square" lIns="0" tIns="0" rIns="0" bIns="0" rtlCol="0" anchor="ctr"/>
          <a:lstStyle/>
          <a:p>
            <a:pPr indent="0" marL="0">
              <a:buNone/>
            </a:pPr>
            <a:r>
              <a:rPr lang="en-US" sz="1400" dirty="0">
                <a:solidFill>
                  <a:srgbClr val="BFE3DC"/>
                </a:solidFill>
                <a:latin typeface="Calibri" pitchFamily="34" charset="0"/>
                <a:ea typeface="Calibri" pitchFamily="34" charset="-122"/>
                <a:cs typeface="Calibri" pitchFamily="34" charset="-120"/>
              </a:rPr>
              <a:t>The problem   ·   What LifeSync is   ·   Architecture   ·   Deployment   ·   Security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1 · Osama</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Tracking your life is itself a chore</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Health apps and budget apps make YOU do the data entry</a:t>
            </a:r>
            <a:endParaRPr lang="en-US" sz="1500" dirty="0"/>
          </a:p>
        </p:txBody>
      </p:sp>
      <p:sp>
        <p:nvSpPr>
          <p:cNvPr id="5" name="Shape 3"/>
          <p:cNvSpPr/>
          <p:nvPr/>
        </p:nvSpPr>
        <p:spPr>
          <a:xfrm>
            <a:off x="548640" y="1828800"/>
            <a:ext cx="566928" cy="566928"/>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673364" y="1953524"/>
            <a:ext cx="317480" cy="317480"/>
          </a:xfrm>
          <a:prstGeom prst="rect">
            <a:avLst/>
          </a:prstGeom>
        </p:spPr>
      </p:pic>
      <p:sp>
        <p:nvSpPr>
          <p:cNvPr id="7" name="Text 4"/>
          <p:cNvSpPr/>
          <p:nvPr/>
        </p:nvSpPr>
        <p:spPr>
          <a:xfrm>
            <a:off x="1371600" y="1783080"/>
            <a:ext cx="9601200" cy="365760"/>
          </a:xfrm>
          <a:prstGeom prst="rect">
            <a:avLst/>
          </a:prstGeom>
          <a:noFill/>
          <a:ln/>
        </p:spPr>
        <p:txBody>
          <a:bodyPr wrap="square" lIns="0" tIns="0" rIns="0" bIns="0" rtlCol="0" anchor="ctr"/>
          <a:lstStyle/>
          <a:p>
            <a:pPr indent="0" marL="0">
              <a:buNone/>
            </a:pPr>
            <a:r>
              <a:rPr lang="en-US" sz="1700" b="1" dirty="0">
                <a:solidFill>
                  <a:srgbClr val="16303A"/>
                </a:solidFill>
                <a:latin typeface="Calibri" pitchFamily="34" charset="0"/>
                <a:ea typeface="Calibri" pitchFamily="34" charset="-122"/>
                <a:cs typeface="Calibri" pitchFamily="34" charset="-120"/>
              </a:rPr>
              <a:t>Manual forms kill habits</a:t>
            </a:r>
            <a:endParaRPr lang="en-US" sz="1700" dirty="0"/>
          </a:p>
        </p:txBody>
      </p:sp>
      <p:sp>
        <p:nvSpPr>
          <p:cNvPr id="8" name="Text 5"/>
          <p:cNvSpPr/>
          <p:nvPr/>
        </p:nvSpPr>
        <p:spPr>
          <a:xfrm>
            <a:off x="1371600" y="2176272"/>
            <a:ext cx="9875520" cy="685800"/>
          </a:xfrm>
          <a:prstGeom prst="rect">
            <a:avLst/>
          </a:prstGeom>
          <a:noFill/>
          <a:ln/>
        </p:spPr>
        <p:txBody>
          <a:bodyPr wrap="square" lIns="0" tIns="0" rIns="0" bIns="0" rtlCol="0" anchor="ctr"/>
          <a:lstStyle/>
          <a:p>
            <a:pPr indent="0" marL="0">
              <a:buNone/>
            </a:pPr>
            <a:r>
              <a:rPr lang="en-US" sz="1400" dirty="0">
                <a:solidFill>
                  <a:srgbClr val="5B7A82"/>
                </a:solidFill>
                <a:latin typeface="Calibri" pitchFamily="34" charset="0"/>
                <a:ea typeface="Calibri" pitchFamily="34" charset="-122"/>
                <a:cs typeface="Calibri" pitchFamily="34" charset="-120"/>
              </a:rPr>
              <a:t>Logging a meal or expense takes 6–10 taps in a typical tracker; most users quit within weeks.</a:t>
            </a:r>
            <a:endParaRPr lang="en-US" sz="1400" dirty="0"/>
          </a:p>
        </p:txBody>
      </p:sp>
      <p:sp>
        <p:nvSpPr>
          <p:cNvPr id="9" name="Shape 6"/>
          <p:cNvSpPr/>
          <p:nvPr/>
        </p:nvSpPr>
        <p:spPr>
          <a:xfrm>
            <a:off x="548640" y="3200400"/>
            <a:ext cx="566928" cy="566928"/>
          </a:xfrm>
          <a:prstGeom prst="ellipse">
            <a:avLst/>
          </a:prstGeom>
          <a:solidFill>
            <a:srgbClr val="028090"/>
          </a:solidFill>
          <a:ln/>
        </p:spPr>
      </p:sp>
      <p:pic>
        <p:nvPicPr>
          <p:cNvPr id="10" name="Image 1" descr="preencoded.png">    </p:cNvPr>
          <p:cNvPicPr>
            <a:picLocks noChangeAspect="1"/>
          </p:cNvPicPr>
          <p:nvPr/>
        </p:nvPicPr>
        <p:blipFill>
          <a:blip r:embed="rId2"/>
          <a:stretch>
            <a:fillRect/>
          </a:stretch>
        </p:blipFill>
        <p:spPr>
          <a:xfrm>
            <a:off x="673364" y="3325124"/>
            <a:ext cx="317480" cy="317480"/>
          </a:xfrm>
          <a:prstGeom prst="rect">
            <a:avLst/>
          </a:prstGeom>
        </p:spPr>
      </p:pic>
      <p:sp>
        <p:nvSpPr>
          <p:cNvPr id="11" name="Text 7"/>
          <p:cNvSpPr/>
          <p:nvPr/>
        </p:nvSpPr>
        <p:spPr>
          <a:xfrm>
            <a:off x="1371600" y="3154680"/>
            <a:ext cx="9601200" cy="365760"/>
          </a:xfrm>
          <a:prstGeom prst="rect">
            <a:avLst/>
          </a:prstGeom>
          <a:noFill/>
          <a:ln/>
        </p:spPr>
        <p:txBody>
          <a:bodyPr wrap="square" lIns="0" tIns="0" rIns="0" bIns="0" rtlCol="0" anchor="ctr"/>
          <a:lstStyle/>
          <a:p>
            <a:pPr indent="0" marL="0">
              <a:buNone/>
            </a:pPr>
            <a:r>
              <a:rPr lang="en-US" sz="1700" b="1" dirty="0">
                <a:solidFill>
                  <a:srgbClr val="16303A"/>
                </a:solidFill>
                <a:latin typeface="Calibri" pitchFamily="34" charset="0"/>
                <a:ea typeface="Calibri" pitchFamily="34" charset="-122"/>
                <a:cs typeface="Calibri" pitchFamily="34" charset="-120"/>
              </a:rPr>
              <a:t>Health and money live in silos</a:t>
            </a:r>
            <a:endParaRPr lang="en-US" sz="1700" dirty="0"/>
          </a:p>
        </p:txBody>
      </p:sp>
      <p:sp>
        <p:nvSpPr>
          <p:cNvPr id="12" name="Text 8"/>
          <p:cNvSpPr/>
          <p:nvPr/>
        </p:nvSpPr>
        <p:spPr>
          <a:xfrm>
            <a:off x="1371600" y="3547872"/>
            <a:ext cx="9875520" cy="685800"/>
          </a:xfrm>
          <a:prstGeom prst="rect">
            <a:avLst/>
          </a:prstGeom>
          <a:noFill/>
          <a:ln/>
        </p:spPr>
        <p:txBody>
          <a:bodyPr wrap="square" lIns="0" tIns="0" rIns="0" bIns="0" rtlCol="0" anchor="ctr"/>
          <a:lstStyle/>
          <a:p>
            <a:pPr indent="0" marL="0">
              <a:buNone/>
            </a:pPr>
            <a:r>
              <a:rPr lang="en-US" sz="1400" dirty="0">
                <a:solidFill>
                  <a:srgbClr val="5B7A82"/>
                </a:solidFill>
                <a:latin typeface="Calibri" pitchFamily="34" charset="0"/>
                <a:ea typeface="Calibri" pitchFamily="34" charset="-122"/>
                <a:cs typeface="Calibri" pitchFamily="34" charset="-120"/>
              </a:rPr>
              <a:t>Sleep, mood, spending and income interact — but no mainstream app connects them.</a:t>
            </a:r>
            <a:endParaRPr lang="en-US" sz="1400" dirty="0"/>
          </a:p>
        </p:txBody>
      </p:sp>
      <p:sp>
        <p:nvSpPr>
          <p:cNvPr id="13" name="Shape 9"/>
          <p:cNvSpPr/>
          <p:nvPr/>
        </p:nvSpPr>
        <p:spPr>
          <a:xfrm>
            <a:off x="548640" y="4572000"/>
            <a:ext cx="566928" cy="566928"/>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673364" y="4696724"/>
            <a:ext cx="317480" cy="317480"/>
          </a:xfrm>
          <a:prstGeom prst="rect">
            <a:avLst/>
          </a:prstGeom>
        </p:spPr>
      </p:pic>
      <p:sp>
        <p:nvSpPr>
          <p:cNvPr id="15" name="Text 10"/>
          <p:cNvSpPr/>
          <p:nvPr/>
        </p:nvSpPr>
        <p:spPr>
          <a:xfrm>
            <a:off x="1371600" y="4526280"/>
            <a:ext cx="9601200" cy="365760"/>
          </a:xfrm>
          <a:prstGeom prst="rect">
            <a:avLst/>
          </a:prstGeom>
          <a:noFill/>
          <a:ln/>
        </p:spPr>
        <p:txBody>
          <a:bodyPr wrap="square" lIns="0" tIns="0" rIns="0" bIns="0" rtlCol="0" anchor="ctr"/>
          <a:lstStyle/>
          <a:p>
            <a:pPr indent="0" marL="0">
              <a:buNone/>
            </a:pPr>
            <a:r>
              <a:rPr lang="en-US" sz="1700" b="1" dirty="0">
                <a:solidFill>
                  <a:srgbClr val="16303A"/>
                </a:solidFill>
                <a:latin typeface="Calibri" pitchFamily="34" charset="0"/>
                <a:ea typeface="Calibri" pitchFamily="34" charset="-122"/>
                <a:cs typeface="Calibri" pitchFamily="34" charset="-120"/>
              </a:rPr>
              <a:t>Arabic speakers are underserved</a:t>
            </a:r>
            <a:endParaRPr lang="en-US" sz="1700" dirty="0"/>
          </a:p>
        </p:txBody>
      </p:sp>
      <p:sp>
        <p:nvSpPr>
          <p:cNvPr id="16" name="Text 11"/>
          <p:cNvSpPr/>
          <p:nvPr/>
        </p:nvSpPr>
        <p:spPr>
          <a:xfrm>
            <a:off x="1371600" y="4919472"/>
            <a:ext cx="9875520" cy="685800"/>
          </a:xfrm>
          <a:prstGeom prst="rect">
            <a:avLst/>
          </a:prstGeom>
          <a:noFill/>
          <a:ln/>
        </p:spPr>
        <p:txBody>
          <a:bodyPr wrap="square" lIns="0" tIns="0" rIns="0" bIns="0" rtlCol="0" anchor="ctr"/>
          <a:lstStyle/>
          <a:p>
            <a:pPr indent="0" marL="0">
              <a:buNone/>
            </a:pPr>
            <a:r>
              <a:rPr lang="en-US" sz="1400" dirty="0">
                <a:solidFill>
                  <a:srgbClr val="5B7A82"/>
                </a:solidFill>
                <a:latin typeface="Calibri" pitchFamily="34" charset="0"/>
                <a:ea typeface="Calibri" pitchFamily="34" charset="-122"/>
                <a:cs typeface="Calibri" pitchFamily="34" charset="-120"/>
              </a:rPr>
              <a:t>Few trackers understand Arabic input at all, let alone mixed Arabic/English conversation.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1 · Osama</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Say it — logged, linked, explained</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One conversational assistant over both life domains</a:t>
            </a:r>
            <a:endParaRPr lang="en-US" sz="1500" dirty="0"/>
          </a:p>
        </p:txBody>
      </p:sp>
      <p:sp>
        <p:nvSpPr>
          <p:cNvPr id="5" name="Shape 3"/>
          <p:cNvSpPr/>
          <p:nvPr/>
        </p:nvSpPr>
        <p:spPr>
          <a:xfrm>
            <a:off x="548640" y="1783080"/>
            <a:ext cx="5486400" cy="4206240"/>
          </a:xfrm>
          <a:prstGeom prst="roundRect">
            <a:avLst>
              <a:gd name="adj" fmla="val 1957"/>
            </a:avLst>
          </a:prstGeom>
          <a:solidFill>
            <a:srgbClr val="EAF4F4"/>
          </a:solidFill>
          <a:ln/>
        </p:spPr>
      </p:sp>
      <p:sp>
        <p:nvSpPr>
          <p:cNvPr id="6" name="Text 4"/>
          <p:cNvSpPr/>
          <p:nvPr/>
        </p:nvSpPr>
        <p:spPr>
          <a:xfrm>
            <a:off x="914400" y="2103120"/>
            <a:ext cx="4754880" cy="457200"/>
          </a:xfrm>
          <a:prstGeom prst="rect">
            <a:avLst/>
          </a:prstGeom>
          <a:noFill/>
          <a:ln/>
        </p:spPr>
        <p:txBody>
          <a:bodyPr wrap="square" lIns="0" tIns="0" rIns="0" bIns="0" rtlCol="0" anchor="ctr"/>
          <a:lstStyle/>
          <a:p>
            <a:pPr indent="0" marL="0">
              <a:buNone/>
            </a:pPr>
            <a:r>
              <a:rPr lang="en-US" sz="1800" b="1" dirty="0">
                <a:solidFill>
                  <a:srgbClr val="16303A"/>
                </a:solidFill>
                <a:latin typeface="Calibri" pitchFamily="34" charset="0"/>
                <a:ea typeface="Calibri" pitchFamily="34" charset="-122"/>
                <a:cs typeface="Calibri" pitchFamily="34" charset="-120"/>
              </a:rPr>
              <a:t>“دفعت ١٥ شيكل للباص”</a:t>
            </a:r>
            <a:endParaRPr lang="en-US" sz="1800" dirty="0"/>
          </a:p>
        </p:txBody>
      </p:sp>
      <p:sp>
        <p:nvSpPr>
          <p:cNvPr id="7" name="Text 5"/>
          <p:cNvSpPr/>
          <p:nvPr/>
        </p:nvSpPr>
        <p:spPr>
          <a:xfrm>
            <a:off x="914400" y="2606040"/>
            <a:ext cx="4846320" cy="36576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 expense ₪15, category: Transportation — logged in 467 ms</a:t>
            </a:r>
            <a:endParaRPr lang="en-US" sz="1300" dirty="0"/>
          </a:p>
        </p:txBody>
      </p:sp>
      <p:sp>
        <p:nvSpPr>
          <p:cNvPr id="8" name="Text 6"/>
          <p:cNvSpPr/>
          <p:nvPr/>
        </p:nvSpPr>
        <p:spPr>
          <a:xfrm>
            <a:off x="914400" y="3291840"/>
            <a:ext cx="4846320" cy="457200"/>
          </a:xfrm>
          <a:prstGeom prst="rect">
            <a:avLst/>
          </a:prstGeom>
          <a:noFill/>
          <a:ln/>
        </p:spPr>
        <p:txBody>
          <a:bodyPr wrap="square" lIns="0" tIns="0" rIns="0" bIns="0" rtlCol="0" anchor="ctr"/>
          <a:lstStyle/>
          <a:p>
            <a:pPr indent="0" marL="0">
              <a:buNone/>
            </a:pPr>
            <a:r>
              <a:rPr lang="en-US" sz="1650" b="1" dirty="0">
                <a:solidFill>
                  <a:srgbClr val="16303A"/>
                </a:solidFill>
                <a:latin typeface="Calibri" pitchFamily="34" charset="0"/>
                <a:ea typeface="Calibri" pitchFamily="34" charset="-122"/>
                <a:cs typeface="Calibri" pitchFamily="34" charset="-120"/>
              </a:rPr>
              <a:t>“I slept 6 hours and spent $40 on takeout”</a:t>
            </a:r>
            <a:endParaRPr lang="en-US" sz="1650" dirty="0"/>
          </a:p>
        </p:txBody>
      </p:sp>
      <p:sp>
        <p:nvSpPr>
          <p:cNvPr id="9" name="Text 7"/>
          <p:cNvSpPr/>
          <p:nvPr/>
        </p:nvSpPr>
        <p:spPr>
          <a:xfrm>
            <a:off x="914400" y="3794760"/>
            <a:ext cx="4846320" cy="64008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 one message, two domains: a sleep log AND an expense,</a:t>
            </a:r>
            <a:endParaRPr lang="en-US" sz="1300" dirty="0"/>
          </a:p>
          <a:p>
            <a:pPr indent="0" marL="0">
              <a:buNone/>
            </a:pPr>
            <a:r>
              <a:rPr lang="en-US" sz="1300" i="1" dirty="0">
                <a:solidFill>
                  <a:srgbClr val="028090"/>
                </a:solidFill>
                <a:latin typeface="Calibri" pitchFamily="34" charset="0"/>
                <a:ea typeface="Calibri" pitchFamily="34" charset="-122"/>
                <a:cs typeface="Calibri" pitchFamily="34" charset="-120"/>
              </a:rPr>
              <a:t>cross-linked for correlation insights</a:t>
            </a:r>
            <a:endParaRPr lang="en-US" sz="1300" dirty="0"/>
          </a:p>
        </p:txBody>
      </p:sp>
      <p:sp>
        <p:nvSpPr>
          <p:cNvPr id="10" name="Text 8"/>
          <p:cNvSpPr/>
          <p:nvPr/>
        </p:nvSpPr>
        <p:spPr>
          <a:xfrm>
            <a:off x="914400" y="5120640"/>
            <a:ext cx="4846320" cy="365760"/>
          </a:xfrm>
          <a:prstGeom prst="rect">
            <a:avLst/>
          </a:prstGeom>
          <a:noFill/>
          <a:ln/>
        </p:spPr>
        <p:txBody>
          <a:bodyPr wrap="square" lIns="0" tIns="0" rIns="0" bIns="0" rtlCol="0" anchor="ctr"/>
          <a:lstStyle/>
          <a:p>
            <a:pPr indent="0" marL="0">
              <a:buNone/>
            </a:pPr>
            <a:r>
              <a:rPr lang="en-US" sz="1250" dirty="0">
                <a:solidFill>
                  <a:srgbClr val="5B7A82"/>
                </a:solidFill>
                <a:latin typeface="Calibri" pitchFamily="34" charset="0"/>
                <a:ea typeface="Calibri" pitchFamily="34" charset="-122"/>
                <a:cs typeface="Calibri" pitchFamily="34" charset="-120"/>
              </a:rPr>
              <a:t>Typed or spoken · English or Arabic · streaming replies</a:t>
            </a:r>
            <a:endParaRPr lang="en-US" sz="1250" dirty="0"/>
          </a:p>
        </p:txBody>
      </p:sp>
      <p:sp>
        <p:nvSpPr>
          <p:cNvPr id="11" name="Shape 9"/>
          <p:cNvSpPr/>
          <p:nvPr/>
        </p:nvSpPr>
        <p:spPr>
          <a:xfrm>
            <a:off x="6492240" y="1874520"/>
            <a:ext cx="457200" cy="457200"/>
          </a:xfrm>
          <a:prstGeom prst="ellipse">
            <a:avLst/>
          </a:prstGeom>
          <a:solidFill>
            <a:srgbClr val="028090"/>
          </a:solidFill>
          <a:ln/>
        </p:spPr>
      </p:sp>
      <p:pic>
        <p:nvPicPr>
          <p:cNvPr id="12" name="Image 0" descr="preencoded.png">    </p:cNvPr>
          <p:cNvPicPr>
            <a:picLocks noChangeAspect="1"/>
          </p:cNvPicPr>
          <p:nvPr/>
        </p:nvPicPr>
        <p:blipFill>
          <a:blip r:embed="rId1"/>
          <a:stretch>
            <a:fillRect/>
          </a:stretch>
        </p:blipFill>
        <p:spPr>
          <a:xfrm>
            <a:off x="6592824" y="1975104"/>
            <a:ext cx="256032" cy="256032"/>
          </a:xfrm>
          <a:prstGeom prst="rect">
            <a:avLst/>
          </a:prstGeom>
        </p:spPr>
      </p:pic>
      <p:sp>
        <p:nvSpPr>
          <p:cNvPr id="13" name="Text 10"/>
          <p:cNvSpPr/>
          <p:nvPr/>
        </p:nvSpPr>
        <p:spPr>
          <a:xfrm>
            <a:off x="7086600" y="1901952"/>
            <a:ext cx="4572000" cy="411480"/>
          </a:xfrm>
          <a:prstGeom prst="rect">
            <a:avLst/>
          </a:prstGeom>
          <a:noFill/>
          <a:ln/>
        </p:spPr>
        <p:txBody>
          <a:bodyPr wrap="square" lIns="0" tIns="0" rIns="0" bIns="0" rtlCol="0" anchor="ctr"/>
          <a:lstStyle/>
          <a:p>
            <a:pPr indent="0" marL="0">
              <a:buNone/>
            </a:pPr>
            <a:r>
              <a:rPr lang="en-US" sz="1450" dirty="0">
                <a:solidFill>
                  <a:srgbClr val="16303A"/>
                </a:solidFill>
                <a:latin typeface="Calibri" pitchFamily="34" charset="0"/>
                <a:ea typeface="Calibri" pitchFamily="34" charset="-122"/>
                <a:cs typeface="Calibri" pitchFamily="34" charset="-120"/>
              </a:rPr>
              <a:t>Conversational logging (chat + voice)</a:t>
            </a:r>
            <a:endParaRPr lang="en-US" sz="1450" dirty="0"/>
          </a:p>
        </p:txBody>
      </p:sp>
      <p:sp>
        <p:nvSpPr>
          <p:cNvPr id="14" name="Shape 11"/>
          <p:cNvSpPr/>
          <p:nvPr/>
        </p:nvSpPr>
        <p:spPr>
          <a:xfrm>
            <a:off x="6492240" y="2587752"/>
            <a:ext cx="457200" cy="457200"/>
          </a:xfrm>
          <a:prstGeom prst="ellipse">
            <a:avLst/>
          </a:prstGeom>
          <a:solidFill>
            <a:srgbClr val="028090"/>
          </a:solidFill>
          <a:ln/>
        </p:spPr>
      </p:sp>
      <p:pic>
        <p:nvPicPr>
          <p:cNvPr id="15" name="Image 1" descr="preencoded.png">    </p:cNvPr>
          <p:cNvPicPr>
            <a:picLocks noChangeAspect="1"/>
          </p:cNvPicPr>
          <p:nvPr/>
        </p:nvPicPr>
        <p:blipFill>
          <a:blip r:embed="rId2"/>
          <a:stretch>
            <a:fillRect/>
          </a:stretch>
        </p:blipFill>
        <p:spPr>
          <a:xfrm>
            <a:off x="6592824" y="2688336"/>
            <a:ext cx="256032" cy="256032"/>
          </a:xfrm>
          <a:prstGeom prst="rect">
            <a:avLst/>
          </a:prstGeom>
        </p:spPr>
      </p:pic>
      <p:sp>
        <p:nvSpPr>
          <p:cNvPr id="16" name="Text 12"/>
          <p:cNvSpPr/>
          <p:nvPr/>
        </p:nvSpPr>
        <p:spPr>
          <a:xfrm>
            <a:off x="7086600" y="2615184"/>
            <a:ext cx="4572000" cy="411480"/>
          </a:xfrm>
          <a:prstGeom prst="rect">
            <a:avLst/>
          </a:prstGeom>
          <a:noFill/>
          <a:ln/>
        </p:spPr>
        <p:txBody>
          <a:bodyPr wrap="square" lIns="0" tIns="0" rIns="0" bIns="0" rtlCol="0" anchor="ctr"/>
          <a:lstStyle/>
          <a:p>
            <a:pPr indent="0" marL="0">
              <a:buNone/>
            </a:pPr>
            <a:r>
              <a:rPr lang="en-US" sz="1450" dirty="0">
                <a:solidFill>
                  <a:srgbClr val="16303A"/>
                </a:solidFill>
                <a:latin typeface="Calibri" pitchFamily="34" charset="0"/>
                <a:ea typeface="Calibri" pitchFamily="34" charset="-122"/>
                <a:cs typeface="Calibri" pitchFamily="34" charset="-120"/>
              </a:rPr>
              <a:t>Dashboards, correlations, weekly insights</a:t>
            </a:r>
            <a:endParaRPr lang="en-US" sz="1450" dirty="0"/>
          </a:p>
        </p:txBody>
      </p:sp>
      <p:sp>
        <p:nvSpPr>
          <p:cNvPr id="17" name="Shape 13"/>
          <p:cNvSpPr/>
          <p:nvPr/>
        </p:nvSpPr>
        <p:spPr>
          <a:xfrm>
            <a:off x="6492240" y="3300984"/>
            <a:ext cx="457200" cy="457200"/>
          </a:xfrm>
          <a:prstGeom prst="ellipse">
            <a:avLst/>
          </a:prstGeom>
          <a:solidFill>
            <a:srgbClr val="028090"/>
          </a:solidFill>
          <a:ln/>
        </p:spPr>
      </p:sp>
      <p:pic>
        <p:nvPicPr>
          <p:cNvPr id="18" name="Image 2" descr="preencoded.png">    </p:cNvPr>
          <p:cNvPicPr>
            <a:picLocks noChangeAspect="1"/>
          </p:cNvPicPr>
          <p:nvPr/>
        </p:nvPicPr>
        <p:blipFill>
          <a:blip r:embed="rId3"/>
          <a:stretch>
            <a:fillRect/>
          </a:stretch>
        </p:blipFill>
        <p:spPr>
          <a:xfrm>
            <a:off x="6592824" y="3401568"/>
            <a:ext cx="256032" cy="256032"/>
          </a:xfrm>
          <a:prstGeom prst="rect">
            <a:avLst/>
          </a:prstGeom>
        </p:spPr>
      </p:pic>
      <p:sp>
        <p:nvSpPr>
          <p:cNvPr id="19" name="Text 14"/>
          <p:cNvSpPr/>
          <p:nvPr/>
        </p:nvSpPr>
        <p:spPr>
          <a:xfrm>
            <a:off x="7086600" y="3328416"/>
            <a:ext cx="4572000" cy="411480"/>
          </a:xfrm>
          <a:prstGeom prst="rect">
            <a:avLst/>
          </a:prstGeom>
          <a:noFill/>
          <a:ln/>
        </p:spPr>
        <p:txBody>
          <a:bodyPr wrap="square" lIns="0" tIns="0" rIns="0" bIns="0" rtlCol="0" anchor="ctr"/>
          <a:lstStyle/>
          <a:p>
            <a:pPr indent="0" marL="0">
              <a:buNone/>
            </a:pPr>
            <a:r>
              <a:rPr lang="en-US" sz="1450" dirty="0">
                <a:solidFill>
                  <a:srgbClr val="16303A"/>
                </a:solidFill>
                <a:latin typeface="Calibri" pitchFamily="34" charset="0"/>
                <a:ea typeface="Calibri" pitchFamily="34" charset="-122"/>
                <a:cs typeface="Calibri" pitchFamily="34" charset="-120"/>
              </a:rPr>
              <a:t>Goals with live progress</a:t>
            </a:r>
            <a:endParaRPr lang="en-US" sz="1450" dirty="0"/>
          </a:p>
        </p:txBody>
      </p:sp>
      <p:sp>
        <p:nvSpPr>
          <p:cNvPr id="20" name="Shape 15"/>
          <p:cNvSpPr/>
          <p:nvPr/>
        </p:nvSpPr>
        <p:spPr>
          <a:xfrm>
            <a:off x="6492240" y="4014216"/>
            <a:ext cx="457200" cy="457200"/>
          </a:xfrm>
          <a:prstGeom prst="ellipse">
            <a:avLst/>
          </a:prstGeom>
          <a:solidFill>
            <a:srgbClr val="028090"/>
          </a:solidFill>
          <a:ln/>
        </p:spPr>
      </p:sp>
      <p:pic>
        <p:nvPicPr>
          <p:cNvPr id="21" name="Image 3" descr="preencoded.png">    </p:cNvPr>
          <p:cNvPicPr>
            <a:picLocks noChangeAspect="1"/>
          </p:cNvPicPr>
          <p:nvPr/>
        </p:nvPicPr>
        <p:blipFill>
          <a:blip r:embed="rId4"/>
          <a:stretch>
            <a:fillRect/>
          </a:stretch>
        </p:blipFill>
        <p:spPr>
          <a:xfrm>
            <a:off x="6592824" y="4114800"/>
            <a:ext cx="256032" cy="256032"/>
          </a:xfrm>
          <a:prstGeom prst="rect">
            <a:avLst/>
          </a:prstGeom>
        </p:spPr>
      </p:pic>
      <p:sp>
        <p:nvSpPr>
          <p:cNvPr id="22" name="Text 16"/>
          <p:cNvSpPr/>
          <p:nvPr/>
        </p:nvSpPr>
        <p:spPr>
          <a:xfrm>
            <a:off x="7086600" y="4041648"/>
            <a:ext cx="4572000" cy="411480"/>
          </a:xfrm>
          <a:prstGeom prst="rect">
            <a:avLst/>
          </a:prstGeom>
          <a:noFill/>
          <a:ln/>
        </p:spPr>
        <p:txBody>
          <a:bodyPr wrap="square" lIns="0" tIns="0" rIns="0" bIns="0" rtlCol="0" anchor="ctr"/>
          <a:lstStyle/>
          <a:p>
            <a:pPr indent="0" marL="0">
              <a:buNone/>
            </a:pPr>
            <a:r>
              <a:rPr lang="en-US" sz="1450" dirty="0">
                <a:solidFill>
                  <a:srgbClr val="16303A"/>
                </a:solidFill>
                <a:latin typeface="Calibri" pitchFamily="34" charset="0"/>
                <a:ea typeface="Calibri" pitchFamily="34" charset="-122"/>
                <a:cs typeface="Calibri" pitchFamily="34" charset="-120"/>
              </a:rPr>
              <a:t>Scheduled weekly PDF reports</a:t>
            </a:r>
            <a:endParaRPr lang="en-US" sz="1450" dirty="0"/>
          </a:p>
        </p:txBody>
      </p:sp>
      <p:sp>
        <p:nvSpPr>
          <p:cNvPr id="23" name="Shape 17"/>
          <p:cNvSpPr/>
          <p:nvPr/>
        </p:nvSpPr>
        <p:spPr>
          <a:xfrm>
            <a:off x="6492240" y="4727448"/>
            <a:ext cx="457200" cy="457200"/>
          </a:xfrm>
          <a:prstGeom prst="ellipse">
            <a:avLst/>
          </a:prstGeom>
          <a:solidFill>
            <a:srgbClr val="028090"/>
          </a:solidFill>
          <a:ln/>
        </p:spPr>
      </p:sp>
      <p:pic>
        <p:nvPicPr>
          <p:cNvPr id="24" name="Image 4" descr="preencoded.png">    </p:cNvPr>
          <p:cNvPicPr>
            <a:picLocks noChangeAspect="1"/>
          </p:cNvPicPr>
          <p:nvPr/>
        </p:nvPicPr>
        <p:blipFill>
          <a:blip r:embed="rId5"/>
          <a:stretch>
            <a:fillRect/>
          </a:stretch>
        </p:blipFill>
        <p:spPr>
          <a:xfrm>
            <a:off x="6592824" y="4828032"/>
            <a:ext cx="256032" cy="256032"/>
          </a:xfrm>
          <a:prstGeom prst="rect">
            <a:avLst/>
          </a:prstGeom>
        </p:spPr>
      </p:pic>
      <p:sp>
        <p:nvSpPr>
          <p:cNvPr id="25" name="Text 18"/>
          <p:cNvSpPr/>
          <p:nvPr/>
        </p:nvSpPr>
        <p:spPr>
          <a:xfrm>
            <a:off x="7086600" y="4754880"/>
            <a:ext cx="4572000" cy="411480"/>
          </a:xfrm>
          <a:prstGeom prst="rect">
            <a:avLst/>
          </a:prstGeom>
          <a:noFill/>
          <a:ln/>
        </p:spPr>
        <p:txBody>
          <a:bodyPr wrap="square" lIns="0" tIns="0" rIns="0" bIns="0" rtlCol="0" anchor="ctr"/>
          <a:lstStyle/>
          <a:p>
            <a:pPr indent="0" marL="0">
              <a:buNone/>
            </a:pPr>
            <a:r>
              <a:rPr lang="en-US" sz="1450" dirty="0">
                <a:solidFill>
                  <a:srgbClr val="16303A"/>
                </a:solidFill>
                <a:latin typeface="Calibri" pitchFamily="34" charset="0"/>
                <a:ea typeface="Calibri" pitchFamily="34" charset="-122"/>
                <a:cs typeface="Calibri" pitchFamily="34" charset="-120"/>
              </a:rPr>
              <a:t>Streaks &amp; gamification</a:t>
            </a:r>
            <a:endParaRPr lang="en-US" sz="1450" dirty="0"/>
          </a:p>
        </p:txBody>
      </p:sp>
      <p:sp>
        <p:nvSpPr>
          <p:cNvPr id="26" name="Shape 19"/>
          <p:cNvSpPr/>
          <p:nvPr/>
        </p:nvSpPr>
        <p:spPr>
          <a:xfrm>
            <a:off x="6492240" y="5440680"/>
            <a:ext cx="457200" cy="457200"/>
          </a:xfrm>
          <a:prstGeom prst="ellipse">
            <a:avLst/>
          </a:prstGeom>
          <a:solidFill>
            <a:srgbClr val="028090"/>
          </a:solidFill>
          <a:ln/>
        </p:spPr>
      </p:sp>
      <p:pic>
        <p:nvPicPr>
          <p:cNvPr id="27" name="Image 5" descr="preencoded.png">    </p:cNvPr>
          <p:cNvPicPr>
            <a:picLocks noChangeAspect="1"/>
          </p:cNvPicPr>
          <p:nvPr/>
        </p:nvPicPr>
        <p:blipFill>
          <a:blip r:embed="rId6"/>
          <a:stretch>
            <a:fillRect/>
          </a:stretch>
        </p:blipFill>
        <p:spPr>
          <a:xfrm>
            <a:off x="6592824" y="5541264"/>
            <a:ext cx="256032" cy="256032"/>
          </a:xfrm>
          <a:prstGeom prst="rect">
            <a:avLst/>
          </a:prstGeom>
        </p:spPr>
      </p:pic>
      <p:sp>
        <p:nvSpPr>
          <p:cNvPr id="28" name="Text 20"/>
          <p:cNvSpPr/>
          <p:nvPr/>
        </p:nvSpPr>
        <p:spPr>
          <a:xfrm>
            <a:off x="7086600" y="5468112"/>
            <a:ext cx="4572000" cy="411480"/>
          </a:xfrm>
          <a:prstGeom prst="rect">
            <a:avLst/>
          </a:prstGeom>
          <a:noFill/>
          <a:ln/>
        </p:spPr>
        <p:txBody>
          <a:bodyPr wrap="square" lIns="0" tIns="0" rIns="0" bIns="0" rtlCol="0" anchor="ctr"/>
          <a:lstStyle/>
          <a:p>
            <a:pPr indent="0" marL="0">
              <a:buNone/>
            </a:pPr>
            <a:r>
              <a:rPr lang="en-US" sz="1450" dirty="0">
                <a:solidFill>
                  <a:srgbClr val="16303A"/>
                </a:solidFill>
                <a:latin typeface="Calibri" pitchFamily="34" charset="0"/>
                <a:ea typeface="Calibri" pitchFamily="34" charset="-122"/>
                <a:cs typeface="Calibri" pitchFamily="34" charset="-120"/>
              </a:rPr>
              <a:t>Google Fit / Apple Health sync</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1 · Osama</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Architecture</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Three tiers + a private AI layer</a:t>
            </a:r>
            <a:endParaRPr lang="en-US" sz="1500" dirty="0"/>
          </a:p>
        </p:txBody>
      </p:sp>
      <p:sp>
        <p:nvSpPr>
          <p:cNvPr id="5" name="Shape 3"/>
          <p:cNvSpPr/>
          <p:nvPr/>
        </p:nvSpPr>
        <p:spPr>
          <a:xfrm>
            <a:off x="548640" y="1920240"/>
            <a:ext cx="3200400" cy="1554480"/>
          </a:xfrm>
          <a:prstGeom prst="roundRect">
            <a:avLst>
              <a:gd name="adj" fmla="val 4706"/>
            </a:avLst>
          </a:prstGeom>
          <a:solidFill>
            <a:srgbClr val="07333B"/>
          </a:solidFill>
          <a:ln/>
        </p:spPr>
      </p:sp>
      <p:sp>
        <p:nvSpPr>
          <p:cNvPr id="6" name="Text 4"/>
          <p:cNvSpPr/>
          <p:nvPr/>
        </p:nvSpPr>
        <p:spPr>
          <a:xfrm>
            <a:off x="685800" y="2029968"/>
            <a:ext cx="292608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React 19 SPA</a:t>
            </a:r>
            <a:endParaRPr lang="en-US" sz="1550" dirty="0"/>
          </a:p>
        </p:txBody>
      </p:sp>
      <p:sp>
        <p:nvSpPr>
          <p:cNvPr id="7" name="Text 5"/>
          <p:cNvSpPr/>
          <p:nvPr/>
        </p:nvSpPr>
        <p:spPr>
          <a:xfrm>
            <a:off x="685800" y="2395728"/>
            <a:ext cx="2926080" cy="1005840"/>
          </a:xfrm>
          <a:prstGeom prst="rect">
            <a:avLst/>
          </a:prstGeom>
          <a:noFill/>
          <a:ln/>
        </p:spPr>
        <p:txBody>
          <a:bodyPr wrap="square" lIns="0" tIns="0" rIns="0" bIns="0" rtlCol="0" anchor="ctr"/>
          <a:lstStyle/>
          <a:p>
            <a:pPr indent="0" marL="0">
              <a:buNone/>
            </a:pPr>
            <a:r>
              <a:rPr lang="en-US" sz="1150" dirty="0">
                <a:solidFill>
                  <a:srgbClr val="CDEBE6"/>
                </a:solidFill>
                <a:latin typeface="Calibri" pitchFamily="34" charset="0"/>
                <a:ea typeface="Calibri" pitchFamily="34" charset="-122"/>
                <a:cs typeface="Calibri" pitchFamily="34" charset="-120"/>
              </a:rPr>
              <a:t>Vite · Tailwind · Chart.js</a:t>
            </a:r>
            <a:endParaRPr lang="en-US" sz="1150" dirty="0"/>
          </a:p>
          <a:p>
            <a:pPr indent="0" marL="0">
              <a:buNone/>
            </a:pPr>
            <a:r>
              <a:rPr lang="en-US" sz="1150" dirty="0">
                <a:solidFill>
                  <a:srgbClr val="CDEBE6"/>
                </a:solidFill>
                <a:latin typeface="Calibri" pitchFamily="34" charset="0"/>
                <a:ea typeface="Calibri" pitchFamily="34" charset="-122"/>
                <a:cs typeface="Calibri" pitchFamily="34" charset="-120"/>
              </a:rPr>
              <a:t>RTL Arabic · dark mode · PWA-ready</a:t>
            </a:r>
            <a:endParaRPr lang="en-US" sz="1150" dirty="0"/>
          </a:p>
          <a:p>
            <a:pPr indent="0" marL="0">
              <a:buNone/>
            </a:pPr>
            <a:r>
              <a:rPr lang="en-US" sz="1150" dirty="0">
                <a:solidFill>
                  <a:srgbClr val="CDEBE6"/>
                </a:solidFill>
                <a:latin typeface="Calibri" pitchFamily="34" charset="0"/>
                <a:ea typeface="Calibri" pitchFamily="34" charset="-122"/>
                <a:cs typeface="Calibri" pitchFamily="34" charset="-120"/>
              </a:rPr>
              <a:t>Cloudflare Workers (edge)</a:t>
            </a:r>
            <a:endParaRPr lang="en-US" sz="1150" dirty="0"/>
          </a:p>
        </p:txBody>
      </p:sp>
      <p:sp>
        <p:nvSpPr>
          <p:cNvPr id="8" name="Shape 6"/>
          <p:cNvSpPr/>
          <p:nvPr/>
        </p:nvSpPr>
        <p:spPr>
          <a:xfrm>
            <a:off x="4251960" y="1920240"/>
            <a:ext cx="3291840" cy="1554480"/>
          </a:xfrm>
          <a:prstGeom prst="roundRect">
            <a:avLst>
              <a:gd name="adj" fmla="val 4706"/>
            </a:avLst>
          </a:prstGeom>
          <a:solidFill>
            <a:srgbClr val="028090"/>
          </a:solidFill>
          <a:ln/>
        </p:spPr>
      </p:sp>
      <p:sp>
        <p:nvSpPr>
          <p:cNvPr id="9" name="Text 7"/>
          <p:cNvSpPr/>
          <p:nvPr/>
        </p:nvSpPr>
        <p:spPr>
          <a:xfrm>
            <a:off x="4389120" y="2029968"/>
            <a:ext cx="301752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Express API</a:t>
            </a:r>
            <a:endParaRPr lang="en-US" sz="1550" dirty="0"/>
          </a:p>
        </p:txBody>
      </p:sp>
      <p:sp>
        <p:nvSpPr>
          <p:cNvPr id="10" name="Text 8"/>
          <p:cNvSpPr/>
          <p:nvPr/>
        </p:nvSpPr>
        <p:spPr>
          <a:xfrm>
            <a:off x="4389120" y="2395728"/>
            <a:ext cx="3017520" cy="1005840"/>
          </a:xfrm>
          <a:prstGeom prst="rect">
            <a:avLst/>
          </a:prstGeom>
          <a:noFill/>
          <a:ln/>
        </p:spPr>
        <p:txBody>
          <a:bodyPr wrap="square" lIns="0" tIns="0" rIns="0" bIns="0" rtlCol="0" anchor="ctr"/>
          <a:lstStyle/>
          <a:p>
            <a:pPr indent="0" marL="0">
              <a:buNone/>
            </a:pPr>
            <a:r>
              <a:rPr lang="en-US" sz="1150" dirty="0">
                <a:solidFill>
                  <a:srgbClr val="CDEBE6"/>
                </a:solidFill>
                <a:latin typeface="Calibri" pitchFamily="34" charset="0"/>
                <a:ea typeface="Calibri" pitchFamily="34" charset="-122"/>
                <a:cs typeface="Calibri" pitchFamily="34" charset="-120"/>
              </a:rPr>
              <a:t>Node 20 · REST + SSE streaming</a:t>
            </a:r>
            <a:endParaRPr lang="en-US" sz="1150" dirty="0"/>
          </a:p>
          <a:p>
            <a:pPr indent="0" marL="0">
              <a:buNone/>
            </a:pPr>
            <a:r>
              <a:rPr lang="en-US" sz="1150" dirty="0">
                <a:solidFill>
                  <a:srgbClr val="CDEBE6"/>
                </a:solidFill>
                <a:latin typeface="Calibri" pitchFamily="34" charset="0"/>
                <a:ea typeface="Calibri" pitchFamily="34" charset="-122"/>
                <a:cs typeface="Calibri" pitchFamily="34" charset="-120"/>
              </a:rPr>
              <a:t>JWT auth · 5-tier rate limiting</a:t>
            </a:r>
            <a:endParaRPr lang="en-US" sz="1150" dirty="0"/>
          </a:p>
          <a:p>
            <a:pPr indent="0" marL="0">
              <a:buNone/>
            </a:pPr>
            <a:r>
              <a:rPr lang="en-US" sz="1150" dirty="0">
                <a:solidFill>
                  <a:srgbClr val="CDEBE6"/>
                </a:solidFill>
                <a:latin typeface="Calibri" pitchFamily="34" charset="0"/>
                <a:ea typeface="Calibri" pitchFamily="34" charset="-122"/>
                <a:cs typeface="Calibri" pitchFamily="34" charset="-120"/>
              </a:rPr>
              <a:t>Railway (container)</a:t>
            </a:r>
            <a:endParaRPr lang="en-US" sz="1150" dirty="0"/>
          </a:p>
        </p:txBody>
      </p:sp>
      <p:sp>
        <p:nvSpPr>
          <p:cNvPr id="11" name="Shape 9"/>
          <p:cNvSpPr/>
          <p:nvPr/>
        </p:nvSpPr>
        <p:spPr>
          <a:xfrm>
            <a:off x="8046720" y="1920240"/>
            <a:ext cx="3566160" cy="1554480"/>
          </a:xfrm>
          <a:prstGeom prst="roundRect">
            <a:avLst>
              <a:gd name="adj" fmla="val 4706"/>
            </a:avLst>
          </a:prstGeom>
          <a:solidFill>
            <a:srgbClr val="07333B"/>
          </a:solidFill>
          <a:ln/>
        </p:spPr>
      </p:sp>
      <p:sp>
        <p:nvSpPr>
          <p:cNvPr id="12" name="Text 10"/>
          <p:cNvSpPr/>
          <p:nvPr/>
        </p:nvSpPr>
        <p:spPr>
          <a:xfrm>
            <a:off x="8183880" y="2029968"/>
            <a:ext cx="329184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Data layer</a:t>
            </a:r>
            <a:endParaRPr lang="en-US" sz="1550" dirty="0"/>
          </a:p>
        </p:txBody>
      </p:sp>
      <p:sp>
        <p:nvSpPr>
          <p:cNvPr id="13" name="Text 11"/>
          <p:cNvSpPr/>
          <p:nvPr/>
        </p:nvSpPr>
        <p:spPr>
          <a:xfrm>
            <a:off x="8183880" y="2395728"/>
            <a:ext cx="3291840" cy="1005840"/>
          </a:xfrm>
          <a:prstGeom prst="rect">
            <a:avLst/>
          </a:prstGeom>
          <a:noFill/>
          <a:ln/>
        </p:spPr>
        <p:txBody>
          <a:bodyPr wrap="square" lIns="0" tIns="0" rIns="0" bIns="0" rtlCol="0" anchor="ctr"/>
          <a:lstStyle/>
          <a:p>
            <a:pPr indent="0" marL="0">
              <a:buNone/>
            </a:pPr>
            <a:r>
              <a:rPr lang="en-US" sz="1150" dirty="0">
                <a:solidFill>
                  <a:srgbClr val="CDEBE6"/>
                </a:solidFill>
                <a:latin typeface="Calibri" pitchFamily="34" charset="0"/>
                <a:ea typeface="Calibri" pitchFamily="34" charset="-122"/>
                <a:cs typeface="Calibri" pitchFamily="34" charset="-120"/>
              </a:rPr>
              <a:t>MySQL 8 + Sequelize (13 models)</a:t>
            </a:r>
            <a:endParaRPr lang="en-US" sz="1150" dirty="0"/>
          </a:p>
          <a:p>
            <a:pPr indent="0" marL="0">
              <a:buNone/>
            </a:pPr>
            <a:r>
              <a:rPr lang="en-US" sz="1150" dirty="0">
                <a:solidFill>
                  <a:srgbClr val="CDEBE6"/>
                </a:solidFill>
                <a:latin typeface="Calibri" pitchFamily="34" charset="0"/>
                <a:ea typeface="Calibri" pitchFamily="34" charset="-122"/>
                <a:cs typeface="Calibri" pitchFamily="34" charset="-120"/>
              </a:rPr>
              <a:t>Redis — OTP, sessions, rate limits</a:t>
            </a:r>
            <a:endParaRPr lang="en-US" sz="1150" dirty="0"/>
          </a:p>
          <a:p>
            <a:pPr indent="0" marL="0">
              <a:buNone/>
            </a:pPr>
            <a:r>
              <a:rPr lang="en-US" sz="1150" dirty="0">
                <a:solidFill>
                  <a:srgbClr val="CDEBE6"/>
                </a:solidFill>
                <a:latin typeface="Calibri" pitchFamily="34" charset="0"/>
                <a:ea typeface="Calibri" pitchFamily="34" charset="-122"/>
                <a:cs typeface="Calibri" pitchFamily="34" charset="-120"/>
              </a:rPr>
              <a:t>field-level AES-256-GCM at rest</a:t>
            </a:r>
            <a:endParaRPr lang="en-US" sz="1150" dirty="0"/>
          </a:p>
        </p:txBody>
      </p:sp>
      <p:sp>
        <p:nvSpPr>
          <p:cNvPr id="14" name="Shape 12"/>
          <p:cNvSpPr/>
          <p:nvPr/>
        </p:nvSpPr>
        <p:spPr>
          <a:xfrm>
            <a:off x="4251960" y="3977640"/>
            <a:ext cx="3291840" cy="1554480"/>
          </a:xfrm>
          <a:prstGeom prst="roundRect">
            <a:avLst>
              <a:gd name="adj" fmla="val 4706"/>
            </a:avLst>
          </a:prstGeom>
          <a:solidFill>
            <a:srgbClr val="02C39A"/>
          </a:solidFill>
          <a:ln/>
        </p:spPr>
      </p:sp>
      <p:sp>
        <p:nvSpPr>
          <p:cNvPr id="15" name="Text 13"/>
          <p:cNvSpPr/>
          <p:nvPr/>
        </p:nvSpPr>
        <p:spPr>
          <a:xfrm>
            <a:off x="4389120" y="4087368"/>
            <a:ext cx="3017520" cy="365760"/>
          </a:xfrm>
          <a:prstGeom prst="rect">
            <a:avLst/>
          </a:prstGeom>
          <a:noFill/>
          <a:ln/>
        </p:spPr>
        <p:txBody>
          <a:bodyPr wrap="square" lIns="0" tIns="0" rIns="0" bIns="0" rtlCol="0" anchor="ctr"/>
          <a:lstStyle/>
          <a:p>
            <a:pPr indent="0" marL="0">
              <a:buNone/>
            </a:pPr>
            <a:r>
              <a:rPr lang="en-US" sz="1550" b="1" dirty="0">
                <a:solidFill>
                  <a:srgbClr val="16303A"/>
                </a:solidFill>
                <a:latin typeface="Cambria" pitchFamily="34" charset="0"/>
                <a:ea typeface="Cambria" pitchFamily="34" charset="-122"/>
                <a:cs typeface="Cambria" pitchFamily="34" charset="-120"/>
              </a:rPr>
              <a:t>AI layer</a:t>
            </a:r>
            <a:endParaRPr lang="en-US" sz="1550" dirty="0"/>
          </a:p>
        </p:txBody>
      </p:sp>
      <p:sp>
        <p:nvSpPr>
          <p:cNvPr id="16" name="Text 14"/>
          <p:cNvSpPr/>
          <p:nvPr/>
        </p:nvSpPr>
        <p:spPr>
          <a:xfrm>
            <a:off x="4389120" y="4453128"/>
            <a:ext cx="3017520" cy="1005840"/>
          </a:xfrm>
          <a:prstGeom prst="rect">
            <a:avLst/>
          </a:prstGeom>
          <a:noFill/>
          <a:ln/>
        </p:spPr>
        <p:txBody>
          <a:bodyPr wrap="square" lIns="0" tIns="0" rIns="0" bIns="0" rtlCol="0" anchor="ctr"/>
          <a:lstStyle/>
          <a:p>
            <a:pPr indent="0" marL="0">
              <a:buNone/>
            </a:pPr>
            <a:r>
              <a:rPr lang="en-US" sz="1150" dirty="0">
                <a:solidFill>
                  <a:srgbClr val="5B7A82"/>
                </a:solidFill>
                <a:latin typeface="Calibri" pitchFamily="34" charset="0"/>
                <a:ea typeface="Calibri" pitchFamily="34" charset="-122"/>
                <a:cs typeface="Calibri" pitchFamily="34" charset="-120"/>
              </a:rPr>
              <a:t>BERT intent router (private, in-server)</a:t>
            </a:r>
            <a:endParaRPr lang="en-US" sz="1150" dirty="0"/>
          </a:p>
          <a:p>
            <a:pPr indent="0" marL="0">
              <a:buNone/>
            </a:pPr>
            <a:r>
              <a:rPr lang="en-US" sz="1150" dirty="0">
                <a:solidFill>
                  <a:srgbClr val="5B7A82"/>
                </a:solidFill>
                <a:latin typeface="Calibri" pitchFamily="34" charset="0"/>
                <a:ea typeface="Calibri" pitchFamily="34" charset="-122"/>
                <a:cs typeface="Calibri" pitchFamily="34" charset="-120"/>
              </a:rPr>
              <a:t>OpenRouter cloud LLMs (streaming)</a:t>
            </a:r>
            <a:endParaRPr lang="en-US" sz="1150" dirty="0"/>
          </a:p>
          <a:p>
            <a:pPr indent="0" marL="0">
              <a:buNone/>
            </a:pPr>
            <a:r>
              <a:rPr lang="en-US" sz="1150" dirty="0">
                <a:solidFill>
                  <a:srgbClr val="5B7A82"/>
                </a:solidFill>
                <a:latin typeface="Calibri" pitchFamily="34" charset="0"/>
                <a:ea typeface="Calibri" pitchFamily="34" charset="-122"/>
                <a:cs typeface="Calibri" pitchFamily="34" charset="-120"/>
              </a:rPr>
              <a:t>Whisper STT · Groq TTS</a:t>
            </a:r>
            <a:endParaRPr lang="en-US" sz="1150" dirty="0"/>
          </a:p>
        </p:txBody>
      </p:sp>
      <p:sp>
        <p:nvSpPr>
          <p:cNvPr id="17" name="Shape 15"/>
          <p:cNvSpPr/>
          <p:nvPr/>
        </p:nvSpPr>
        <p:spPr>
          <a:xfrm>
            <a:off x="3749040" y="2697480"/>
            <a:ext cx="502920" cy="18288"/>
          </a:xfrm>
          <a:prstGeom prst="line">
            <a:avLst/>
          </a:prstGeom>
          <a:noFill/>
          <a:ln w="25400">
            <a:solidFill>
              <a:srgbClr val="5B7A82"/>
            </a:solidFill>
            <a:prstDash val="solid"/>
            <a:tailEnd type="triangle"/>
          </a:ln>
        </p:spPr>
      </p:sp>
      <p:sp>
        <p:nvSpPr>
          <p:cNvPr id="18" name="Shape 16"/>
          <p:cNvSpPr/>
          <p:nvPr/>
        </p:nvSpPr>
        <p:spPr>
          <a:xfrm>
            <a:off x="7543800" y="2697480"/>
            <a:ext cx="502920" cy="18288"/>
          </a:xfrm>
          <a:prstGeom prst="line">
            <a:avLst/>
          </a:prstGeom>
          <a:noFill/>
          <a:ln w="25400">
            <a:solidFill>
              <a:srgbClr val="5B7A82"/>
            </a:solidFill>
            <a:prstDash val="solid"/>
            <a:tailEnd type="triangle"/>
          </a:ln>
        </p:spPr>
      </p:sp>
      <p:sp>
        <p:nvSpPr>
          <p:cNvPr id="19" name="Shape 17"/>
          <p:cNvSpPr/>
          <p:nvPr/>
        </p:nvSpPr>
        <p:spPr>
          <a:xfrm>
            <a:off x="5897880" y="3474720"/>
            <a:ext cx="18288" cy="502920"/>
          </a:xfrm>
          <a:prstGeom prst="line">
            <a:avLst/>
          </a:prstGeom>
          <a:noFill/>
          <a:ln w="25400">
            <a:solidFill>
              <a:srgbClr val="5B7A82"/>
            </a:solidFill>
            <a:prstDash val="solid"/>
            <a:tailEnd type="triangle"/>
          </a:ln>
        </p:spPr>
      </p:sp>
      <p:sp>
        <p:nvSpPr>
          <p:cNvPr id="20" name="Text 18"/>
          <p:cNvSpPr/>
          <p:nvPr/>
        </p:nvSpPr>
        <p:spPr>
          <a:xfrm>
            <a:off x="548640" y="5897880"/>
            <a:ext cx="11064240" cy="457200"/>
          </a:xfrm>
          <a:prstGeom prst="rect">
            <a:avLst/>
          </a:prstGeom>
          <a:noFill/>
          <a:ln/>
        </p:spPr>
        <p:txBody>
          <a:bodyPr wrap="square" lIns="0" tIns="0" rIns="0" bIns="0" rtlCol="0" anchor="ctr"/>
          <a:lstStyle/>
          <a:p>
            <a:pPr indent="0" marL="0">
              <a:buNone/>
            </a:pPr>
            <a:r>
              <a:rPr lang="en-US" sz="1300" i="1" dirty="0">
                <a:solidFill>
                  <a:srgbClr val="5B7A82"/>
                </a:solidFill>
                <a:latin typeface="Calibri" pitchFamily="34" charset="0"/>
                <a:ea typeface="Calibri" pitchFamily="34" charset="-122"/>
                <a:cs typeface="Calibri" pitchFamily="34" charset="-120"/>
              </a:rPr>
              <a:t>Every chat message flows: SPA → SSE endpoint → AI layer → structured rows in MySQL → live dashboard update.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1 · Osama</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Deployed and live — not a localhost demo</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Both tiers in production, verified this week</a:t>
            </a:r>
            <a:endParaRPr lang="en-US" sz="1500" dirty="0"/>
          </a:p>
        </p:txBody>
      </p:sp>
      <p:sp>
        <p:nvSpPr>
          <p:cNvPr id="5" name="Shape 3"/>
          <p:cNvSpPr/>
          <p:nvPr/>
        </p:nvSpPr>
        <p:spPr>
          <a:xfrm>
            <a:off x="548640" y="1783080"/>
            <a:ext cx="530352" cy="530352"/>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665317" y="1899757"/>
            <a:ext cx="296997" cy="296997"/>
          </a:xfrm>
          <a:prstGeom prst="rect">
            <a:avLst/>
          </a:prstGeom>
        </p:spPr>
      </p:pic>
      <p:sp>
        <p:nvSpPr>
          <p:cNvPr id="7" name="Text 4"/>
          <p:cNvSpPr/>
          <p:nvPr/>
        </p:nvSpPr>
        <p:spPr>
          <a:xfrm>
            <a:off x="1325880" y="1755648"/>
            <a:ext cx="10241280" cy="365760"/>
          </a:xfrm>
          <a:prstGeom prst="rect">
            <a:avLst/>
          </a:prstGeom>
          <a:noFill/>
          <a:ln/>
        </p:spPr>
        <p:txBody>
          <a:bodyPr wrap="square" lIns="0" tIns="0" rIns="0" bIns="0" rtlCol="0" anchor="ctr"/>
          <a:lstStyle/>
          <a:p>
            <a:pPr indent="0" marL="0">
              <a:buNone/>
            </a:pPr>
            <a:r>
              <a:rPr lang="en-US" sz="1600" b="1" dirty="0">
                <a:solidFill>
                  <a:srgbClr val="16303A"/>
                </a:solidFill>
                <a:latin typeface="Calibri" pitchFamily="34" charset="0"/>
                <a:ea typeface="Calibri" pitchFamily="34" charset="-122"/>
                <a:cs typeface="Calibri" pitchFamily="34" charset="-120"/>
              </a:rPr>
              <a:t>Frontend — Cloudflare Workers</a:t>
            </a:r>
            <a:endParaRPr lang="en-US" sz="1600" dirty="0"/>
          </a:p>
        </p:txBody>
      </p:sp>
      <p:sp>
        <p:nvSpPr>
          <p:cNvPr id="8" name="Text 5"/>
          <p:cNvSpPr/>
          <p:nvPr/>
        </p:nvSpPr>
        <p:spPr>
          <a:xfrm>
            <a:off x="1325880" y="2121408"/>
            <a:ext cx="10424160" cy="457200"/>
          </a:xfrm>
          <a:prstGeom prst="rect">
            <a:avLst/>
          </a:prstGeom>
          <a:noFill/>
          <a:ln/>
        </p:spPr>
        <p:txBody>
          <a:bodyPr wrap="square" lIns="0" tIns="0" rIns="0" bIns="0" rtlCol="0" anchor="ctr"/>
          <a:lstStyle/>
          <a:p>
            <a:pPr indent="0" marL="0">
              <a:buNone/>
            </a:pPr>
            <a:r>
              <a:rPr lang="en-US" sz="1300" dirty="0">
                <a:solidFill>
                  <a:srgbClr val="5B7A82"/>
                </a:solidFill>
                <a:latin typeface="Calibri" pitchFamily="34" charset="0"/>
                <a:ea typeface="Calibri" pitchFamily="34" charset="-122"/>
                <a:cs typeface="Calibri" pitchFamily="34" charset="-120"/>
              </a:rPr>
              <a:t>Edge-served SPA, global CDN, smoke-tested on every deploy</a:t>
            </a:r>
            <a:endParaRPr lang="en-US" sz="1300" dirty="0"/>
          </a:p>
        </p:txBody>
      </p:sp>
      <p:sp>
        <p:nvSpPr>
          <p:cNvPr id="9" name="Shape 6"/>
          <p:cNvSpPr/>
          <p:nvPr/>
        </p:nvSpPr>
        <p:spPr>
          <a:xfrm>
            <a:off x="548640" y="2834640"/>
            <a:ext cx="530352" cy="530352"/>
          </a:xfrm>
          <a:prstGeom prst="ellipse">
            <a:avLst/>
          </a:prstGeom>
          <a:solidFill>
            <a:srgbClr val="028090"/>
          </a:solidFill>
          <a:ln/>
        </p:spPr>
      </p:sp>
      <p:pic>
        <p:nvPicPr>
          <p:cNvPr id="10" name="Image 1" descr="preencoded.png">    </p:cNvPr>
          <p:cNvPicPr>
            <a:picLocks noChangeAspect="1"/>
          </p:cNvPicPr>
          <p:nvPr/>
        </p:nvPicPr>
        <p:blipFill>
          <a:blip r:embed="rId2"/>
          <a:stretch>
            <a:fillRect/>
          </a:stretch>
        </p:blipFill>
        <p:spPr>
          <a:xfrm>
            <a:off x="665317" y="2951317"/>
            <a:ext cx="296997" cy="296997"/>
          </a:xfrm>
          <a:prstGeom prst="rect">
            <a:avLst/>
          </a:prstGeom>
        </p:spPr>
      </p:pic>
      <p:sp>
        <p:nvSpPr>
          <p:cNvPr id="11" name="Text 7"/>
          <p:cNvSpPr/>
          <p:nvPr/>
        </p:nvSpPr>
        <p:spPr>
          <a:xfrm>
            <a:off x="1325880" y="2807208"/>
            <a:ext cx="10241280" cy="365760"/>
          </a:xfrm>
          <a:prstGeom prst="rect">
            <a:avLst/>
          </a:prstGeom>
          <a:noFill/>
          <a:ln/>
        </p:spPr>
        <p:txBody>
          <a:bodyPr wrap="square" lIns="0" tIns="0" rIns="0" bIns="0" rtlCol="0" anchor="ctr"/>
          <a:lstStyle/>
          <a:p>
            <a:pPr indent="0" marL="0">
              <a:buNone/>
            </a:pPr>
            <a:r>
              <a:rPr lang="en-US" sz="1600" b="1" dirty="0">
                <a:solidFill>
                  <a:srgbClr val="16303A"/>
                </a:solidFill>
                <a:latin typeface="Calibri" pitchFamily="34" charset="0"/>
                <a:ea typeface="Calibri" pitchFamily="34" charset="-122"/>
                <a:cs typeface="Calibri" pitchFamily="34" charset="-120"/>
              </a:rPr>
              <a:t>Backend — Railway</a:t>
            </a:r>
            <a:endParaRPr lang="en-US" sz="1600" dirty="0"/>
          </a:p>
        </p:txBody>
      </p:sp>
      <p:sp>
        <p:nvSpPr>
          <p:cNvPr id="12" name="Text 8"/>
          <p:cNvSpPr/>
          <p:nvPr/>
        </p:nvSpPr>
        <p:spPr>
          <a:xfrm>
            <a:off x="1325880" y="3172968"/>
            <a:ext cx="10424160" cy="457200"/>
          </a:xfrm>
          <a:prstGeom prst="rect">
            <a:avLst/>
          </a:prstGeom>
          <a:noFill/>
          <a:ln/>
        </p:spPr>
        <p:txBody>
          <a:bodyPr wrap="square" lIns="0" tIns="0" rIns="0" bIns="0" rtlCol="0" anchor="ctr"/>
          <a:lstStyle/>
          <a:p>
            <a:pPr indent="0" marL="0">
              <a:buNone/>
            </a:pPr>
            <a:r>
              <a:rPr lang="en-US" sz="1300" dirty="0">
                <a:solidFill>
                  <a:srgbClr val="5B7A82"/>
                </a:solidFill>
                <a:latin typeface="Calibri" pitchFamily="34" charset="0"/>
                <a:ea typeface="Calibri" pitchFamily="34" charset="-122"/>
                <a:cs typeface="Calibri" pitchFamily="34" charset="-120"/>
              </a:rPr>
              <a:t>Containerized API + MySQL + Redis, migration-managed schema (8 migrations)</a:t>
            </a:r>
            <a:endParaRPr lang="en-US" sz="1300" dirty="0"/>
          </a:p>
        </p:txBody>
      </p:sp>
      <p:sp>
        <p:nvSpPr>
          <p:cNvPr id="13" name="Shape 9"/>
          <p:cNvSpPr/>
          <p:nvPr/>
        </p:nvSpPr>
        <p:spPr>
          <a:xfrm>
            <a:off x="548640" y="3886200"/>
            <a:ext cx="530352" cy="530352"/>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665317" y="4002877"/>
            <a:ext cx="296997" cy="296997"/>
          </a:xfrm>
          <a:prstGeom prst="rect">
            <a:avLst/>
          </a:prstGeom>
        </p:spPr>
      </p:pic>
      <p:sp>
        <p:nvSpPr>
          <p:cNvPr id="15" name="Text 10"/>
          <p:cNvSpPr/>
          <p:nvPr/>
        </p:nvSpPr>
        <p:spPr>
          <a:xfrm>
            <a:off x="1325880" y="3858768"/>
            <a:ext cx="10241280" cy="365760"/>
          </a:xfrm>
          <a:prstGeom prst="rect">
            <a:avLst/>
          </a:prstGeom>
          <a:noFill/>
          <a:ln/>
        </p:spPr>
        <p:txBody>
          <a:bodyPr wrap="square" lIns="0" tIns="0" rIns="0" bIns="0" rtlCol="0" anchor="ctr"/>
          <a:lstStyle/>
          <a:p>
            <a:pPr indent="0" marL="0">
              <a:buNone/>
            </a:pPr>
            <a:r>
              <a:rPr lang="en-US" sz="1600" b="1" dirty="0">
                <a:solidFill>
                  <a:srgbClr val="16303A"/>
                </a:solidFill>
                <a:latin typeface="Calibri" pitchFamily="34" charset="0"/>
                <a:ea typeface="Calibri" pitchFamily="34" charset="-122"/>
                <a:cs typeface="Calibri" pitchFamily="34" charset="-120"/>
              </a:rPr>
              <a:t>CI gates</a:t>
            </a:r>
            <a:endParaRPr lang="en-US" sz="1600" dirty="0"/>
          </a:p>
        </p:txBody>
      </p:sp>
      <p:sp>
        <p:nvSpPr>
          <p:cNvPr id="16" name="Text 11"/>
          <p:cNvSpPr/>
          <p:nvPr/>
        </p:nvSpPr>
        <p:spPr>
          <a:xfrm>
            <a:off x="1325880" y="4224528"/>
            <a:ext cx="10424160" cy="457200"/>
          </a:xfrm>
          <a:prstGeom prst="rect">
            <a:avLst/>
          </a:prstGeom>
          <a:noFill/>
          <a:ln/>
        </p:spPr>
        <p:txBody>
          <a:bodyPr wrap="square" lIns="0" tIns="0" rIns="0" bIns="0" rtlCol="0" anchor="ctr"/>
          <a:lstStyle/>
          <a:p>
            <a:pPr indent="0" marL="0">
              <a:buNone/>
            </a:pPr>
            <a:r>
              <a:rPr lang="en-US" sz="1300" dirty="0">
                <a:solidFill>
                  <a:srgbClr val="5B7A82"/>
                </a:solidFill>
                <a:latin typeface="Calibri" pitchFamily="34" charset="0"/>
                <a:ea typeface="Calibri" pitchFamily="34" charset="-122"/>
                <a:cs typeface="Calibri" pitchFamily="34" charset="-120"/>
              </a:rPr>
              <a:t>Release-env preflight · build validation · post-deploy smoke suite (pages, API, AI health, voice config)</a:t>
            </a:r>
            <a:endParaRPr lang="en-US" sz="1300" dirty="0"/>
          </a:p>
        </p:txBody>
      </p:sp>
      <p:sp>
        <p:nvSpPr>
          <p:cNvPr id="17" name="Shape 12"/>
          <p:cNvSpPr/>
          <p:nvPr/>
        </p:nvSpPr>
        <p:spPr>
          <a:xfrm>
            <a:off x="548640" y="4937760"/>
            <a:ext cx="530352" cy="530352"/>
          </a:xfrm>
          <a:prstGeom prst="ellipse">
            <a:avLst/>
          </a:prstGeom>
          <a:solidFill>
            <a:srgbClr val="028090"/>
          </a:solidFill>
          <a:ln/>
        </p:spPr>
      </p:sp>
      <p:pic>
        <p:nvPicPr>
          <p:cNvPr id="18" name="Image 3" descr="preencoded.png">    </p:cNvPr>
          <p:cNvPicPr>
            <a:picLocks noChangeAspect="1"/>
          </p:cNvPicPr>
          <p:nvPr/>
        </p:nvPicPr>
        <p:blipFill>
          <a:blip r:embed="rId4"/>
          <a:stretch>
            <a:fillRect/>
          </a:stretch>
        </p:blipFill>
        <p:spPr>
          <a:xfrm>
            <a:off x="665317" y="5054437"/>
            <a:ext cx="296997" cy="296997"/>
          </a:xfrm>
          <a:prstGeom prst="rect">
            <a:avLst/>
          </a:prstGeom>
        </p:spPr>
      </p:pic>
      <p:sp>
        <p:nvSpPr>
          <p:cNvPr id="19" name="Text 13"/>
          <p:cNvSpPr/>
          <p:nvPr/>
        </p:nvSpPr>
        <p:spPr>
          <a:xfrm>
            <a:off x="1325880" y="4910328"/>
            <a:ext cx="10241280" cy="365760"/>
          </a:xfrm>
          <a:prstGeom prst="rect">
            <a:avLst/>
          </a:prstGeom>
          <a:noFill/>
          <a:ln/>
        </p:spPr>
        <p:txBody>
          <a:bodyPr wrap="square" lIns="0" tIns="0" rIns="0" bIns="0" rtlCol="0" anchor="ctr"/>
          <a:lstStyle/>
          <a:p>
            <a:pPr indent="0" marL="0">
              <a:buNone/>
            </a:pPr>
            <a:r>
              <a:rPr lang="en-US" sz="1600" b="1" dirty="0">
                <a:solidFill>
                  <a:srgbClr val="16303A"/>
                </a:solidFill>
                <a:latin typeface="Calibri" pitchFamily="34" charset="0"/>
                <a:ea typeface="Calibri" pitchFamily="34" charset="-122"/>
                <a:cs typeface="Calibri" pitchFamily="34" charset="-120"/>
              </a:rPr>
              <a:t>Real deploy cadence</a:t>
            </a:r>
            <a:endParaRPr lang="en-US" sz="1600" dirty="0"/>
          </a:p>
        </p:txBody>
      </p:sp>
      <p:sp>
        <p:nvSpPr>
          <p:cNvPr id="20" name="Text 14"/>
          <p:cNvSpPr/>
          <p:nvPr/>
        </p:nvSpPr>
        <p:spPr>
          <a:xfrm>
            <a:off x="1325880" y="5276088"/>
            <a:ext cx="10424160" cy="457200"/>
          </a:xfrm>
          <a:prstGeom prst="rect">
            <a:avLst/>
          </a:prstGeom>
          <a:noFill/>
          <a:ln/>
        </p:spPr>
        <p:txBody>
          <a:bodyPr wrap="square" lIns="0" tIns="0" rIns="0" bIns="0" rtlCol="0" anchor="ctr"/>
          <a:lstStyle/>
          <a:p>
            <a:pPr indent="0" marL="0">
              <a:buNone/>
            </a:pPr>
            <a:r>
              <a:rPr lang="en-US" sz="1300" dirty="0">
                <a:solidFill>
                  <a:srgbClr val="5B7A82"/>
                </a:solidFill>
                <a:latin typeface="Calibri" pitchFamily="34" charset="0"/>
                <a:ea typeface="Calibri" pitchFamily="34" charset="-122"/>
                <a:cs typeface="Calibri" pitchFamily="34" charset="-120"/>
              </a:rPr>
              <a:t>40+ production deployments across the project; backend &amp; frontend ship independently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1 · Osama</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Security &amp; privacy</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Health + financial data demands more than a login form</a:t>
            </a:r>
            <a:endParaRPr lang="en-US" sz="1500" dirty="0"/>
          </a:p>
        </p:txBody>
      </p:sp>
      <p:sp>
        <p:nvSpPr>
          <p:cNvPr id="5" name="Shape 3"/>
          <p:cNvSpPr/>
          <p:nvPr/>
        </p:nvSpPr>
        <p:spPr>
          <a:xfrm>
            <a:off x="548640" y="1874520"/>
            <a:ext cx="5394960" cy="1874520"/>
          </a:xfrm>
          <a:prstGeom prst="roundRect">
            <a:avLst>
              <a:gd name="adj" fmla="val 4390"/>
            </a:avLst>
          </a:prstGeom>
          <a:solidFill>
            <a:srgbClr val="EAF4F4"/>
          </a:solidFill>
          <a:ln/>
        </p:spPr>
      </p:sp>
      <p:sp>
        <p:nvSpPr>
          <p:cNvPr id="6" name="Shape 4"/>
          <p:cNvSpPr/>
          <p:nvPr/>
        </p:nvSpPr>
        <p:spPr>
          <a:xfrm>
            <a:off x="822960" y="2148840"/>
            <a:ext cx="502920" cy="502920"/>
          </a:xfrm>
          <a:prstGeom prst="ellipse">
            <a:avLst/>
          </a:prstGeom>
          <a:solidFill>
            <a:srgbClr val="028090"/>
          </a:solidFill>
          <a:ln/>
        </p:spPr>
      </p:sp>
      <p:pic>
        <p:nvPicPr>
          <p:cNvPr id="7" name="Image 0" descr="preencoded.png">    </p:cNvPr>
          <p:cNvPicPr>
            <a:picLocks noChangeAspect="1"/>
          </p:cNvPicPr>
          <p:nvPr/>
        </p:nvPicPr>
        <p:blipFill>
          <a:blip r:embed="rId1"/>
          <a:stretch>
            <a:fillRect/>
          </a:stretch>
        </p:blipFill>
        <p:spPr>
          <a:xfrm>
            <a:off x="933602" y="2259482"/>
            <a:ext cx="281635" cy="281635"/>
          </a:xfrm>
          <a:prstGeom prst="rect">
            <a:avLst/>
          </a:prstGeom>
        </p:spPr>
      </p:pic>
      <p:sp>
        <p:nvSpPr>
          <p:cNvPr id="8" name="Text 5"/>
          <p:cNvSpPr/>
          <p:nvPr/>
        </p:nvSpPr>
        <p:spPr>
          <a:xfrm>
            <a:off x="1508760" y="2130552"/>
            <a:ext cx="4206240" cy="365760"/>
          </a:xfrm>
          <a:prstGeom prst="rect">
            <a:avLst/>
          </a:prstGeom>
          <a:noFill/>
          <a:ln/>
        </p:spPr>
        <p:txBody>
          <a:bodyPr wrap="square" lIns="0" tIns="0" rIns="0" bIns="0" rtlCol="0" anchor="ctr"/>
          <a:lstStyle/>
          <a:p>
            <a:pPr indent="0" marL="0">
              <a:buNone/>
            </a:pPr>
            <a:r>
              <a:rPr lang="en-US" sz="1550" b="1" dirty="0">
                <a:solidFill>
                  <a:srgbClr val="16303A"/>
                </a:solidFill>
                <a:latin typeface="Calibri" pitchFamily="34" charset="0"/>
                <a:ea typeface="Calibri" pitchFamily="34" charset="-122"/>
                <a:cs typeface="Calibri" pitchFamily="34" charset="-120"/>
              </a:rPr>
              <a:t>Encryption at rest</a:t>
            </a:r>
            <a:endParaRPr lang="en-US" sz="1550" dirty="0"/>
          </a:p>
        </p:txBody>
      </p:sp>
      <p:sp>
        <p:nvSpPr>
          <p:cNvPr id="9" name="Text 6"/>
          <p:cNvSpPr/>
          <p:nvPr/>
        </p:nvSpPr>
        <p:spPr>
          <a:xfrm>
            <a:off x="822960" y="2651760"/>
            <a:ext cx="4846320" cy="1005840"/>
          </a:xfrm>
          <a:prstGeom prst="rect">
            <a:avLst/>
          </a:prstGeom>
          <a:noFill/>
          <a:ln/>
        </p:spPr>
        <p:txBody>
          <a:bodyPr wrap="square" lIns="0" tIns="0" rIns="0" bIns="0" rtlCol="0" anchor="ctr"/>
          <a:lstStyle/>
          <a:p>
            <a:pPr indent="0" marL="0">
              <a:buNone/>
            </a:pPr>
            <a:r>
              <a:rPr lang="en-US" sz="1180" dirty="0">
                <a:solidFill>
                  <a:srgbClr val="5B7A82"/>
                </a:solidFill>
                <a:latin typeface="Calibri" pitchFamily="34" charset="0"/>
                <a:ea typeface="Calibri" pitchFamily="34" charset="-122"/>
                <a:cs typeface="Calibri" pitchFamily="34" charset="-120"/>
              </a:rPr>
              <a:t>Amounts, notes &amp; health values encrypted per-field with AES-256-GCM (node:crypto); key rotation supported via versioned format</a:t>
            </a:r>
            <a:endParaRPr lang="en-US" sz="1180" dirty="0"/>
          </a:p>
        </p:txBody>
      </p:sp>
      <p:sp>
        <p:nvSpPr>
          <p:cNvPr id="10" name="Shape 7"/>
          <p:cNvSpPr/>
          <p:nvPr/>
        </p:nvSpPr>
        <p:spPr>
          <a:xfrm>
            <a:off x="6217920" y="1874520"/>
            <a:ext cx="5394960" cy="1874520"/>
          </a:xfrm>
          <a:prstGeom prst="roundRect">
            <a:avLst>
              <a:gd name="adj" fmla="val 4390"/>
            </a:avLst>
          </a:prstGeom>
          <a:solidFill>
            <a:srgbClr val="EAF4F4"/>
          </a:solidFill>
          <a:ln/>
        </p:spPr>
      </p:sp>
      <p:sp>
        <p:nvSpPr>
          <p:cNvPr id="11" name="Shape 8"/>
          <p:cNvSpPr/>
          <p:nvPr/>
        </p:nvSpPr>
        <p:spPr>
          <a:xfrm>
            <a:off x="6492240" y="2148840"/>
            <a:ext cx="502920" cy="502920"/>
          </a:xfrm>
          <a:prstGeom prst="ellipse">
            <a:avLst/>
          </a:prstGeom>
          <a:solidFill>
            <a:srgbClr val="028090"/>
          </a:solidFill>
          <a:ln/>
        </p:spPr>
      </p:sp>
      <p:pic>
        <p:nvPicPr>
          <p:cNvPr id="12" name="Image 1" descr="preencoded.png">    </p:cNvPr>
          <p:cNvPicPr>
            <a:picLocks noChangeAspect="1"/>
          </p:cNvPicPr>
          <p:nvPr/>
        </p:nvPicPr>
        <p:blipFill>
          <a:blip r:embed="rId2"/>
          <a:stretch>
            <a:fillRect/>
          </a:stretch>
        </p:blipFill>
        <p:spPr>
          <a:xfrm>
            <a:off x="6602882" y="2259482"/>
            <a:ext cx="281635" cy="281635"/>
          </a:xfrm>
          <a:prstGeom prst="rect">
            <a:avLst/>
          </a:prstGeom>
        </p:spPr>
      </p:pic>
      <p:sp>
        <p:nvSpPr>
          <p:cNvPr id="13" name="Text 9"/>
          <p:cNvSpPr/>
          <p:nvPr/>
        </p:nvSpPr>
        <p:spPr>
          <a:xfrm>
            <a:off x="7178040" y="2130552"/>
            <a:ext cx="4206240" cy="365760"/>
          </a:xfrm>
          <a:prstGeom prst="rect">
            <a:avLst/>
          </a:prstGeom>
          <a:noFill/>
          <a:ln/>
        </p:spPr>
        <p:txBody>
          <a:bodyPr wrap="square" lIns="0" tIns="0" rIns="0" bIns="0" rtlCol="0" anchor="ctr"/>
          <a:lstStyle/>
          <a:p>
            <a:pPr indent="0" marL="0">
              <a:buNone/>
            </a:pPr>
            <a:r>
              <a:rPr lang="en-US" sz="1550" b="1" dirty="0">
                <a:solidFill>
                  <a:srgbClr val="16303A"/>
                </a:solidFill>
                <a:latin typeface="Calibri" pitchFamily="34" charset="0"/>
                <a:ea typeface="Calibri" pitchFamily="34" charset="-122"/>
                <a:cs typeface="Calibri" pitchFamily="34" charset="-120"/>
              </a:rPr>
              <a:t>Hardened auth</a:t>
            </a:r>
            <a:endParaRPr lang="en-US" sz="1550" dirty="0"/>
          </a:p>
        </p:txBody>
      </p:sp>
      <p:sp>
        <p:nvSpPr>
          <p:cNvPr id="14" name="Text 10"/>
          <p:cNvSpPr/>
          <p:nvPr/>
        </p:nvSpPr>
        <p:spPr>
          <a:xfrm>
            <a:off x="6492240" y="2651760"/>
            <a:ext cx="4846320" cy="1005840"/>
          </a:xfrm>
          <a:prstGeom prst="rect">
            <a:avLst/>
          </a:prstGeom>
          <a:noFill/>
          <a:ln/>
        </p:spPr>
        <p:txBody>
          <a:bodyPr wrap="square" lIns="0" tIns="0" rIns="0" bIns="0" rtlCol="0" anchor="ctr"/>
          <a:lstStyle/>
          <a:p>
            <a:pPr indent="0" marL="0">
              <a:buNone/>
            </a:pPr>
            <a:r>
              <a:rPr lang="en-US" sz="1180" dirty="0">
                <a:solidFill>
                  <a:srgbClr val="5B7A82"/>
                </a:solidFill>
                <a:latin typeface="Calibri" pitchFamily="34" charset="0"/>
                <a:ea typeface="Calibri" pitchFamily="34" charset="-122"/>
                <a:cs typeface="Calibri" pitchFamily="34" charset="-120"/>
              </a:rPr>
              <a:t>OTP e-mail registration · bcrypt-12 · short-lived JWT + silent refresh · Google Sign-In · timing-safe comparisons</a:t>
            </a:r>
            <a:endParaRPr lang="en-US" sz="1180" dirty="0"/>
          </a:p>
        </p:txBody>
      </p:sp>
      <p:sp>
        <p:nvSpPr>
          <p:cNvPr id="15" name="Shape 11"/>
          <p:cNvSpPr/>
          <p:nvPr/>
        </p:nvSpPr>
        <p:spPr>
          <a:xfrm>
            <a:off x="548640" y="3977640"/>
            <a:ext cx="5394960" cy="1874520"/>
          </a:xfrm>
          <a:prstGeom prst="roundRect">
            <a:avLst>
              <a:gd name="adj" fmla="val 4390"/>
            </a:avLst>
          </a:prstGeom>
          <a:solidFill>
            <a:srgbClr val="EAF4F4"/>
          </a:solidFill>
          <a:ln/>
        </p:spPr>
      </p:sp>
      <p:sp>
        <p:nvSpPr>
          <p:cNvPr id="16" name="Shape 12"/>
          <p:cNvSpPr/>
          <p:nvPr/>
        </p:nvSpPr>
        <p:spPr>
          <a:xfrm>
            <a:off x="822960" y="4251960"/>
            <a:ext cx="502920" cy="502920"/>
          </a:xfrm>
          <a:prstGeom prst="ellipse">
            <a:avLst/>
          </a:prstGeom>
          <a:solidFill>
            <a:srgbClr val="028090"/>
          </a:solidFill>
          <a:ln/>
        </p:spPr>
      </p:sp>
      <p:pic>
        <p:nvPicPr>
          <p:cNvPr id="17" name="Image 2" descr="preencoded.png">    </p:cNvPr>
          <p:cNvPicPr>
            <a:picLocks noChangeAspect="1"/>
          </p:cNvPicPr>
          <p:nvPr/>
        </p:nvPicPr>
        <p:blipFill>
          <a:blip r:embed="rId3"/>
          <a:stretch>
            <a:fillRect/>
          </a:stretch>
        </p:blipFill>
        <p:spPr>
          <a:xfrm>
            <a:off x="933602" y="4362602"/>
            <a:ext cx="281635" cy="281635"/>
          </a:xfrm>
          <a:prstGeom prst="rect">
            <a:avLst/>
          </a:prstGeom>
        </p:spPr>
      </p:pic>
      <p:sp>
        <p:nvSpPr>
          <p:cNvPr id="18" name="Text 13"/>
          <p:cNvSpPr/>
          <p:nvPr/>
        </p:nvSpPr>
        <p:spPr>
          <a:xfrm>
            <a:off x="1508760" y="4233672"/>
            <a:ext cx="4206240" cy="365760"/>
          </a:xfrm>
          <a:prstGeom prst="rect">
            <a:avLst/>
          </a:prstGeom>
          <a:noFill/>
          <a:ln/>
        </p:spPr>
        <p:txBody>
          <a:bodyPr wrap="square" lIns="0" tIns="0" rIns="0" bIns="0" rtlCol="0" anchor="ctr"/>
          <a:lstStyle/>
          <a:p>
            <a:pPr indent="0" marL="0">
              <a:buNone/>
            </a:pPr>
            <a:r>
              <a:rPr lang="en-US" sz="1550" b="1" dirty="0">
                <a:solidFill>
                  <a:srgbClr val="16303A"/>
                </a:solidFill>
                <a:latin typeface="Calibri" pitchFamily="34" charset="0"/>
                <a:ea typeface="Calibri" pitchFamily="34" charset="-122"/>
                <a:cs typeface="Calibri" pitchFamily="34" charset="-120"/>
              </a:rPr>
              <a:t>Least privilege</a:t>
            </a:r>
            <a:endParaRPr lang="en-US" sz="1550" dirty="0"/>
          </a:p>
        </p:txBody>
      </p:sp>
      <p:sp>
        <p:nvSpPr>
          <p:cNvPr id="19" name="Text 14"/>
          <p:cNvSpPr/>
          <p:nvPr/>
        </p:nvSpPr>
        <p:spPr>
          <a:xfrm>
            <a:off x="822960" y="4754880"/>
            <a:ext cx="4846320" cy="1005840"/>
          </a:xfrm>
          <a:prstGeom prst="rect">
            <a:avLst/>
          </a:prstGeom>
          <a:noFill/>
          <a:ln/>
        </p:spPr>
        <p:txBody>
          <a:bodyPr wrap="square" lIns="0" tIns="0" rIns="0" bIns="0" rtlCol="0" anchor="ctr"/>
          <a:lstStyle/>
          <a:p>
            <a:pPr indent="0" marL="0">
              <a:buNone/>
            </a:pPr>
            <a:r>
              <a:rPr lang="en-US" sz="1180" dirty="0">
                <a:solidFill>
                  <a:srgbClr val="5B7A82"/>
                </a:solidFill>
                <a:latin typeface="Calibri" pitchFamily="34" charset="0"/>
                <a:ea typeface="Calibri" pitchFamily="34" charset="-122"/>
                <a:cs typeface="Calibri" pitchFamily="34" charset="-120"/>
              </a:rPr>
              <a:t>Role-based admin · every endpoint auth-gated (verified by live tests) · 5-tier rate limiting on auth/OTP/chat</a:t>
            </a:r>
            <a:endParaRPr lang="en-US" sz="1180" dirty="0"/>
          </a:p>
        </p:txBody>
      </p:sp>
      <p:sp>
        <p:nvSpPr>
          <p:cNvPr id="20" name="Shape 15"/>
          <p:cNvSpPr/>
          <p:nvPr/>
        </p:nvSpPr>
        <p:spPr>
          <a:xfrm>
            <a:off x="6217920" y="3977640"/>
            <a:ext cx="5394960" cy="1874520"/>
          </a:xfrm>
          <a:prstGeom prst="roundRect">
            <a:avLst>
              <a:gd name="adj" fmla="val 4390"/>
            </a:avLst>
          </a:prstGeom>
          <a:solidFill>
            <a:srgbClr val="EAF4F4"/>
          </a:solidFill>
          <a:ln/>
        </p:spPr>
      </p:sp>
      <p:sp>
        <p:nvSpPr>
          <p:cNvPr id="21" name="Shape 16"/>
          <p:cNvSpPr/>
          <p:nvPr/>
        </p:nvSpPr>
        <p:spPr>
          <a:xfrm>
            <a:off x="6492240" y="4251960"/>
            <a:ext cx="502920" cy="502920"/>
          </a:xfrm>
          <a:prstGeom prst="ellipse">
            <a:avLst/>
          </a:prstGeom>
          <a:solidFill>
            <a:srgbClr val="028090"/>
          </a:solidFill>
          <a:ln/>
        </p:spPr>
      </p:sp>
      <p:pic>
        <p:nvPicPr>
          <p:cNvPr id="22" name="Image 3" descr="preencoded.png">    </p:cNvPr>
          <p:cNvPicPr>
            <a:picLocks noChangeAspect="1"/>
          </p:cNvPicPr>
          <p:nvPr/>
        </p:nvPicPr>
        <p:blipFill>
          <a:blip r:embed="rId4"/>
          <a:stretch>
            <a:fillRect/>
          </a:stretch>
        </p:blipFill>
        <p:spPr>
          <a:xfrm>
            <a:off x="6602882" y="4362602"/>
            <a:ext cx="281635" cy="281635"/>
          </a:xfrm>
          <a:prstGeom prst="rect">
            <a:avLst/>
          </a:prstGeom>
        </p:spPr>
      </p:pic>
      <p:sp>
        <p:nvSpPr>
          <p:cNvPr id="23" name="Text 17"/>
          <p:cNvSpPr/>
          <p:nvPr/>
        </p:nvSpPr>
        <p:spPr>
          <a:xfrm>
            <a:off x="7178040" y="4233672"/>
            <a:ext cx="4206240" cy="365760"/>
          </a:xfrm>
          <a:prstGeom prst="rect">
            <a:avLst/>
          </a:prstGeom>
          <a:noFill/>
          <a:ln/>
        </p:spPr>
        <p:txBody>
          <a:bodyPr wrap="square" lIns="0" tIns="0" rIns="0" bIns="0" rtlCol="0" anchor="ctr"/>
          <a:lstStyle/>
          <a:p>
            <a:pPr indent="0" marL="0">
              <a:buNone/>
            </a:pPr>
            <a:r>
              <a:rPr lang="en-US" sz="1550" b="1" dirty="0">
                <a:solidFill>
                  <a:srgbClr val="16303A"/>
                </a:solidFill>
                <a:latin typeface="Calibri" pitchFamily="34" charset="0"/>
                <a:ea typeface="Calibri" pitchFamily="34" charset="-122"/>
                <a:cs typeface="Calibri" pitchFamily="34" charset="-120"/>
              </a:rPr>
              <a:t>OAuth done right</a:t>
            </a:r>
            <a:endParaRPr lang="en-US" sz="1550" dirty="0"/>
          </a:p>
        </p:txBody>
      </p:sp>
      <p:sp>
        <p:nvSpPr>
          <p:cNvPr id="24" name="Text 18"/>
          <p:cNvSpPr/>
          <p:nvPr/>
        </p:nvSpPr>
        <p:spPr>
          <a:xfrm>
            <a:off x="6492240" y="4754880"/>
            <a:ext cx="4846320" cy="1005840"/>
          </a:xfrm>
          <a:prstGeom prst="rect">
            <a:avLst/>
          </a:prstGeom>
          <a:noFill/>
          <a:ln/>
        </p:spPr>
        <p:txBody>
          <a:bodyPr wrap="square" lIns="0" tIns="0" rIns="0" bIns="0" rtlCol="0" anchor="ctr"/>
          <a:lstStyle/>
          <a:p>
            <a:pPr indent="0" marL="0">
              <a:buNone/>
            </a:pPr>
            <a:r>
              <a:rPr lang="en-US" sz="1180" dirty="0">
                <a:solidFill>
                  <a:srgbClr val="5B7A82"/>
                </a:solidFill>
                <a:latin typeface="Calibri" pitchFamily="34" charset="0"/>
                <a:ea typeface="Calibri" pitchFamily="34" charset="-122"/>
                <a:cs typeface="Calibri" pitchFamily="34" charset="-120"/>
              </a:rPr>
              <a:t>Integration callbacks bound by single-use server-issued nonces — forged state payloads rejected (tested against production)</a:t>
            </a:r>
            <a:endParaRPr lang="en-US" sz="11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333B"/>
        </a:solidFill>
      </p:bgPr>
    </p:bg>
    <p:spTree>
      <p:nvGrpSpPr>
        <p:cNvPr id="1" name=""/>
        <p:cNvGrpSpPr/>
        <p:nvPr/>
      </p:nvGrpSpPr>
      <p:grpSpPr>
        <a:xfrm>
          <a:off x="0" y="0"/>
          <a:ext cx="0" cy="0"/>
          <a:chOff x="0" y="0"/>
          <a:chExt cx="0" cy="0"/>
        </a:xfrm>
      </p:grpSpPr>
      <p:sp>
        <p:nvSpPr>
          <p:cNvPr id="2" name="Shape 0"/>
          <p:cNvSpPr/>
          <p:nvPr/>
        </p:nvSpPr>
        <p:spPr>
          <a:xfrm>
            <a:off x="548640" y="1828800"/>
            <a:ext cx="914400" cy="914400"/>
          </a:xfrm>
          <a:prstGeom prst="ellipse">
            <a:avLst/>
          </a:prstGeom>
          <a:solidFill>
            <a:srgbClr val="02C39A"/>
          </a:solidFill>
          <a:ln/>
        </p:spPr>
      </p:sp>
      <p:pic>
        <p:nvPicPr>
          <p:cNvPr id="3" name="Image 0" descr="preencoded.png">    </p:cNvPr>
          <p:cNvPicPr>
            <a:picLocks noChangeAspect="1"/>
          </p:cNvPicPr>
          <p:nvPr/>
        </p:nvPicPr>
        <p:blipFill>
          <a:blip r:embed="rId1"/>
          <a:stretch>
            <a:fillRect/>
          </a:stretch>
        </p:blipFill>
        <p:spPr>
          <a:xfrm>
            <a:off x="749808" y="2029968"/>
            <a:ext cx="512064" cy="512064"/>
          </a:xfrm>
          <a:prstGeom prst="rect">
            <a:avLst/>
          </a:prstGeom>
        </p:spPr>
      </p:pic>
      <p:sp>
        <p:nvSpPr>
          <p:cNvPr id="4" name="Text 1"/>
          <p:cNvSpPr/>
          <p:nvPr/>
        </p:nvSpPr>
        <p:spPr>
          <a:xfrm>
            <a:off x="548640" y="2880360"/>
            <a:ext cx="7315200" cy="411480"/>
          </a:xfrm>
          <a:prstGeom prst="rect">
            <a:avLst/>
          </a:prstGeom>
          <a:noFill/>
          <a:ln/>
        </p:spPr>
        <p:txBody>
          <a:bodyPr wrap="square" lIns="0" tIns="0" rIns="0" bIns="0" rtlCol="0" anchor="ctr"/>
          <a:lstStyle/>
          <a:p>
            <a:pPr indent="0" marL="0">
              <a:buNone/>
            </a:pPr>
            <a:r>
              <a:rPr lang="en-US" sz="1600" b="1" spc="200" kern="0" dirty="0">
                <a:solidFill>
                  <a:srgbClr val="02C39A"/>
                </a:solidFill>
                <a:latin typeface="Calibri" pitchFamily="34" charset="0"/>
                <a:ea typeface="Calibri" pitchFamily="34" charset="-122"/>
                <a:cs typeface="Calibri" pitchFamily="34" charset="-120"/>
              </a:rPr>
              <a:t>PART 2 · ABDALLAH AABED</a:t>
            </a:r>
            <a:endParaRPr lang="en-US" sz="1600" dirty="0"/>
          </a:p>
        </p:txBody>
      </p:sp>
      <p:sp>
        <p:nvSpPr>
          <p:cNvPr id="5" name="Text 2"/>
          <p:cNvSpPr/>
          <p:nvPr/>
        </p:nvSpPr>
        <p:spPr>
          <a:xfrm>
            <a:off x="548640" y="329184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AI Engine</a:t>
            </a:r>
            <a:endParaRPr lang="en-US" sz="4000" dirty="0"/>
          </a:p>
        </p:txBody>
      </p:sp>
      <p:sp>
        <p:nvSpPr>
          <p:cNvPr id="6" name="Text 3"/>
          <p:cNvSpPr/>
          <p:nvPr/>
        </p:nvSpPr>
        <p:spPr>
          <a:xfrm>
            <a:off x="548640" y="4343400"/>
            <a:ext cx="10515600" cy="457200"/>
          </a:xfrm>
          <a:prstGeom prst="rect">
            <a:avLst/>
          </a:prstGeom>
          <a:noFill/>
          <a:ln/>
        </p:spPr>
        <p:txBody>
          <a:bodyPr wrap="square" lIns="0" tIns="0" rIns="0" bIns="0" rtlCol="0" anchor="ctr"/>
          <a:lstStyle/>
          <a:p>
            <a:pPr indent="0" marL="0">
              <a:buNone/>
            </a:pPr>
            <a:r>
              <a:rPr lang="en-US" sz="1400" dirty="0">
                <a:solidFill>
                  <a:srgbClr val="BFE3DC"/>
                </a:solidFill>
                <a:latin typeface="Calibri" pitchFamily="34" charset="0"/>
                <a:ea typeface="Calibri" pitchFamily="34" charset="-122"/>
                <a:cs typeface="Calibri" pitchFamily="34" charset="-120"/>
              </a:rPr>
              <a:t>Two-track pipeline   ·   Private BERT router   ·   Cloud models   ·   Bilingual &amp; voice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2 · Abdallah</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Deterministic data, generative prose</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The reply can be creative — the database entry must never be</a:t>
            </a:r>
            <a:endParaRPr lang="en-US" sz="1500" dirty="0"/>
          </a:p>
        </p:txBody>
      </p:sp>
      <p:sp>
        <p:nvSpPr>
          <p:cNvPr id="5" name="Shape 3"/>
          <p:cNvSpPr/>
          <p:nvPr/>
        </p:nvSpPr>
        <p:spPr>
          <a:xfrm>
            <a:off x="548640" y="2194560"/>
            <a:ext cx="2834640" cy="1280160"/>
          </a:xfrm>
          <a:prstGeom prst="roundRect">
            <a:avLst>
              <a:gd name="adj" fmla="val 5714"/>
            </a:avLst>
          </a:prstGeom>
          <a:solidFill>
            <a:srgbClr val="EAF4F4"/>
          </a:solidFill>
          <a:ln/>
        </p:spPr>
      </p:sp>
      <p:sp>
        <p:nvSpPr>
          <p:cNvPr id="6" name="Text 4"/>
          <p:cNvSpPr/>
          <p:nvPr/>
        </p:nvSpPr>
        <p:spPr>
          <a:xfrm>
            <a:off x="731520" y="2322576"/>
            <a:ext cx="2468880" cy="384048"/>
          </a:xfrm>
          <a:prstGeom prst="rect">
            <a:avLst/>
          </a:prstGeom>
          <a:noFill/>
          <a:ln/>
        </p:spPr>
        <p:txBody>
          <a:bodyPr wrap="square" lIns="0" tIns="0" rIns="0" bIns="0" rtlCol="0" anchor="ctr"/>
          <a:lstStyle/>
          <a:p>
            <a:pPr indent="0" marL="0">
              <a:buNone/>
            </a:pPr>
            <a:r>
              <a:rPr lang="en-US" sz="1500" b="1" dirty="0">
                <a:solidFill>
                  <a:srgbClr val="16303A"/>
                </a:solidFill>
                <a:latin typeface="Cambria" pitchFamily="34" charset="0"/>
                <a:ea typeface="Cambria" pitchFamily="34" charset="-122"/>
                <a:cs typeface="Cambria" pitchFamily="34" charset="-120"/>
              </a:rPr>
              <a:t>User message</a:t>
            </a:r>
            <a:endParaRPr lang="en-US" sz="1500" dirty="0"/>
          </a:p>
        </p:txBody>
      </p:sp>
      <p:sp>
        <p:nvSpPr>
          <p:cNvPr id="7" name="Text 5"/>
          <p:cNvSpPr/>
          <p:nvPr/>
        </p:nvSpPr>
        <p:spPr>
          <a:xfrm>
            <a:off x="731520" y="2724912"/>
            <a:ext cx="2468880" cy="640080"/>
          </a:xfrm>
          <a:prstGeom prst="rect">
            <a:avLst/>
          </a:prstGeom>
          <a:noFill/>
          <a:ln/>
        </p:spPr>
        <p:txBody>
          <a:bodyPr wrap="square" lIns="0" tIns="0" rIns="0" bIns="0" rtlCol="0" anchor="ctr"/>
          <a:lstStyle/>
          <a:p>
            <a:pPr indent="0" marL="0">
              <a:buNone/>
            </a:pPr>
            <a:r>
              <a:rPr lang="en-US" sz="1180" dirty="0">
                <a:solidFill>
                  <a:srgbClr val="5B7A82"/>
                </a:solidFill>
                <a:latin typeface="Calibri" pitchFamily="34" charset="0"/>
                <a:ea typeface="Calibri" pitchFamily="34" charset="-122"/>
                <a:cs typeface="Calibri" pitchFamily="34" charset="-120"/>
              </a:rPr>
              <a:t>text or voice</a:t>
            </a:r>
            <a:endParaRPr lang="en-US" sz="1180" dirty="0"/>
          </a:p>
          <a:p>
            <a:pPr indent="0" marL="0">
              <a:buNone/>
            </a:pPr>
            <a:r>
              <a:rPr lang="en-US" sz="1180" dirty="0">
                <a:solidFill>
                  <a:srgbClr val="5B7A82"/>
                </a:solidFill>
                <a:latin typeface="Calibri" pitchFamily="34" charset="0"/>
                <a:ea typeface="Calibri" pitchFamily="34" charset="-122"/>
                <a:cs typeface="Calibri" pitchFamily="34" charset="-120"/>
              </a:rPr>
              <a:t>English / Arabic / mixed</a:t>
            </a:r>
            <a:endParaRPr lang="en-US" sz="1180" dirty="0"/>
          </a:p>
        </p:txBody>
      </p:sp>
      <p:sp>
        <p:nvSpPr>
          <p:cNvPr id="8" name="Shape 6"/>
          <p:cNvSpPr/>
          <p:nvPr/>
        </p:nvSpPr>
        <p:spPr>
          <a:xfrm>
            <a:off x="3931920" y="1691640"/>
            <a:ext cx="3749040" cy="1280160"/>
          </a:xfrm>
          <a:prstGeom prst="roundRect">
            <a:avLst>
              <a:gd name="adj" fmla="val 5714"/>
            </a:avLst>
          </a:prstGeom>
          <a:solidFill>
            <a:srgbClr val="028090"/>
          </a:solidFill>
          <a:ln/>
        </p:spPr>
      </p:sp>
      <p:sp>
        <p:nvSpPr>
          <p:cNvPr id="9" name="Text 7"/>
          <p:cNvSpPr/>
          <p:nvPr/>
        </p:nvSpPr>
        <p:spPr>
          <a:xfrm>
            <a:off x="4114800" y="1819656"/>
            <a:ext cx="3383280"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TRACK A — always runs</a:t>
            </a:r>
            <a:endParaRPr lang="en-US" sz="1500" dirty="0"/>
          </a:p>
        </p:txBody>
      </p:sp>
      <p:sp>
        <p:nvSpPr>
          <p:cNvPr id="10" name="Text 8"/>
          <p:cNvSpPr/>
          <p:nvPr/>
        </p:nvSpPr>
        <p:spPr>
          <a:xfrm>
            <a:off x="4114800" y="2221992"/>
            <a:ext cx="3383280" cy="640080"/>
          </a:xfrm>
          <a:prstGeom prst="rect">
            <a:avLst/>
          </a:prstGeom>
          <a:noFill/>
          <a:ln/>
        </p:spPr>
        <p:txBody>
          <a:bodyPr wrap="square" lIns="0" tIns="0" rIns="0" bIns="0" rtlCol="0" anchor="ctr"/>
          <a:lstStyle/>
          <a:p>
            <a:pPr indent="0" marL="0">
              <a:buNone/>
            </a:pPr>
            <a:r>
              <a:rPr lang="en-US" sz="1180" dirty="0">
                <a:solidFill>
                  <a:srgbClr val="CDEBE6"/>
                </a:solidFill>
                <a:latin typeface="Calibri" pitchFamily="34" charset="0"/>
                <a:ea typeface="Calibri" pitchFamily="34" charset="-122"/>
                <a:cs typeface="Calibri" pitchFamily="34" charset="-120"/>
              </a:rPr>
              <a:t>BERT intent + entity extraction</a:t>
            </a:r>
            <a:endParaRPr lang="en-US" sz="1180" dirty="0"/>
          </a:p>
          <a:p>
            <a:pPr indent="0" marL="0">
              <a:buNone/>
            </a:pPr>
            <a:r>
              <a:rPr lang="en-US" sz="1180" dirty="0">
                <a:solidFill>
                  <a:srgbClr val="CDEBE6"/>
                </a:solidFill>
                <a:latin typeface="Calibri" pitchFamily="34" charset="0"/>
                <a:ea typeface="Calibri" pitchFamily="34" charset="-122"/>
                <a:cs typeface="Calibri" pitchFamily="34" charset="-120"/>
              </a:rPr>
              <a:t>→ validated rows: logs, goals, links</a:t>
            </a:r>
            <a:endParaRPr lang="en-US" sz="1180" dirty="0"/>
          </a:p>
        </p:txBody>
      </p:sp>
      <p:sp>
        <p:nvSpPr>
          <p:cNvPr id="11" name="Shape 9"/>
          <p:cNvSpPr/>
          <p:nvPr/>
        </p:nvSpPr>
        <p:spPr>
          <a:xfrm>
            <a:off x="3931920" y="3429000"/>
            <a:ext cx="3749040" cy="1280160"/>
          </a:xfrm>
          <a:prstGeom prst="roundRect">
            <a:avLst>
              <a:gd name="adj" fmla="val 5714"/>
            </a:avLst>
          </a:prstGeom>
          <a:solidFill>
            <a:srgbClr val="07333B"/>
          </a:solidFill>
          <a:ln/>
        </p:spPr>
      </p:sp>
      <p:sp>
        <p:nvSpPr>
          <p:cNvPr id="12" name="Text 10"/>
          <p:cNvSpPr/>
          <p:nvPr/>
        </p:nvSpPr>
        <p:spPr>
          <a:xfrm>
            <a:off x="4114800" y="3557016"/>
            <a:ext cx="3383280"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TRACK B — the reply</a:t>
            </a:r>
            <a:endParaRPr lang="en-US" sz="1500" dirty="0"/>
          </a:p>
        </p:txBody>
      </p:sp>
      <p:sp>
        <p:nvSpPr>
          <p:cNvPr id="13" name="Text 11"/>
          <p:cNvSpPr/>
          <p:nvPr/>
        </p:nvSpPr>
        <p:spPr>
          <a:xfrm>
            <a:off x="4114800" y="3959352"/>
            <a:ext cx="3383280" cy="640080"/>
          </a:xfrm>
          <a:prstGeom prst="rect">
            <a:avLst/>
          </a:prstGeom>
          <a:noFill/>
          <a:ln/>
        </p:spPr>
        <p:txBody>
          <a:bodyPr wrap="square" lIns="0" tIns="0" rIns="0" bIns="0" rtlCol="0" anchor="ctr"/>
          <a:lstStyle/>
          <a:p>
            <a:pPr indent="0" marL="0">
              <a:buNone/>
            </a:pPr>
            <a:r>
              <a:rPr lang="en-US" sz="1180" dirty="0">
                <a:solidFill>
                  <a:srgbClr val="CDEBE6"/>
                </a:solidFill>
                <a:latin typeface="Calibri" pitchFamily="34" charset="0"/>
                <a:ea typeface="Calibri" pitchFamily="34" charset="-122"/>
                <a:cs typeface="Calibri" pitchFamily="34" charset="-120"/>
              </a:rPr>
              <a:t>selected cloud model via OpenRouter</a:t>
            </a:r>
            <a:endParaRPr lang="en-US" sz="1180" dirty="0"/>
          </a:p>
          <a:p>
            <a:pPr indent="0" marL="0">
              <a:buNone/>
            </a:pPr>
            <a:r>
              <a:rPr lang="en-US" sz="1180" dirty="0">
                <a:solidFill>
                  <a:srgbClr val="CDEBE6"/>
                </a:solidFill>
                <a:latin typeface="Calibri" pitchFamily="34" charset="0"/>
                <a:ea typeface="Calibri" pitchFamily="34" charset="-122"/>
                <a:cs typeface="Calibri" pitchFamily="34" charset="-120"/>
              </a:rPr>
              <a:t>full history + memory + fresh facts</a:t>
            </a:r>
            <a:endParaRPr lang="en-US" sz="1180" dirty="0"/>
          </a:p>
        </p:txBody>
      </p:sp>
      <p:sp>
        <p:nvSpPr>
          <p:cNvPr id="14" name="Shape 12"/>
          <p:cNvSpPr/>
          <p:nvPr/>
        </p:nvSpPr>
        <p:spPr>
          <a:xfrm>
            <a:off x="8229600" y="2194560"/>
            <a:ext cx="3383280" cy="1280160"/>
          </a:xfrm>
          <a:prstGeom prst="roundRect">
            <a:avLst>
              <a:gd name="adj" fmla="val 5714"/>
            </a:avLst>
          </a:prstGeom>
          <a:solidFill>
            <a:srgbClr val="02C39A"/>
          </a:solidFill>
          <a:ln/>
        </p:spPr>
      </p:sp>
      <p:sp>
        <p:nvSpPr>
          <p:cNvPr id="15" name="Text 13"/>
          <p:cNvSpPr/>
          <p:nvPr/>
        </p:nvSpPr>
        <p:spPr>
          <a:xfrm>
            <a:off x="8412480" y="2322576"/>
            <a:ext cx="3017520" cy="384048"/>
          </a:xfrm>
          <a:prstGeom prst="rect">
            <a:avLst/>
          </a:prstGeom>
          <a:noFill/>
          <a:ln/>
        </p:spPr>
        <p:txBody>
          <a:bodyPr wrap="square" lIns="0" tIns="0" rIns="0" bIns="0" rtlCol="0" anchor="ctr"/>
          <a:lstStyle/>
          <a:p>
            <a:pPr indent="0" marL="0">
              <a:buNone/>
            </a:pPr>
            <a:r>
              <a:rPr lang="en-US" sz="1500" b="1" dirty="0">
                <a:solidFill>
                  <a:srgbClr val="16303A"/>
                </a:solidFill>
                <a:latin typeface="Cambria" pitchFamily="34" charset="0"/>
                <a:ea typeface="Cambria" pitchFamily="34" charset="-122"/>
                <a:cs typeface="Cambria" pitchFamily="34" charset="-120"/>
              </a:rPr>
              <a:t>Result</a:t>
            </a:r>
            <a:endParaRPr lang="en-US" sz="1500" dirty="0"/>
          </a:p>
        </p:txBody>
      </p:sp>
      <p:sp>
        <p:nvSpPr>
          <p:cNvPr id="16" name="Text 14"/>
          <p:cNvSpPr/>
          <p:nvPr/>
        </p:nvSpPr>
        <p:spPr>
          <a:xfrm>
            <a:off x="8412480" y="2724912"/>
            <a:ext cx="3017520" cy="640080"/>
          </a:xfrm>
          <a:prstGeom prst="rect">
            <a:avLst/>
          </a:prstGeom>
          <a:noFill/>
          <a:ln/>
        </p:spPr>
        <p:txBody>
          <a:bodyPr wrap="square" lIns="0" tIns="0" rIns="0" bIns="0" rtlCol="0" anchor="ctr"/>
          <a:lstStyle/>
          <a:p>
            <a:pPr indent="0" marL="0">
              <a:buNone/>
            </a:pPr>
            <a:r>
              <a:rPr lang="en-US" sz="1180" dirty="0">
                <a:solidFill>
                  <a:srgbClr val="5B7A82"/>
                </a:solidFill>
                <a:latin typeface="Calibri" pitchFamily="34" charset="0"/>
                <a:ea typeface="Calibri" pitchFamily="34" charset="-122"/>
                <a:cs typeface="Calibri" pitchFamily="34" charset="-120"/>
              </a:rPr>
              <a:t>structured data you can chart</a:t>
            </a:r>
            <a:endParaRPr lang="en-US" sz="1180" dirty="0"/>
          </a:p>
          <a:p>
            <a:pPr indent="0" marL="0">
              <a:buNone/>
            </a:pPr>
            <a:r>
              <a:rPr lang="en-US" sz="1180" dirty="0">
                <a:solidFill>
                  <a:srgbClr val="5B7A82"/>
                </a:solidFill>
                <a:latin typeface="Calibri" pitchFamily="34" charset="0"/>
                <a:ea typeface="Calibri" pitchFamily="34" charset="-122"/>
                <a:cs typeface="Calibri" pitchFamily="34" charset="-120"/>
              </a:rPr>
              <a:t>+ a natural streaming reply</a:t>
            </a:r>
            <a:endParaRPr lang="en-US" sz="1180" dirty="0"/>
          </a:p>
        </p:txBody>
      </p:sp>
      <p:sp>
        <p:nvSpPr>
          <p:cNvPr id="17" name="Shape 15"/>
          <p:cNvSpPr/>
          <p:nvPr/>
        </p:nvSpPr>
        <p:spPr>
          <a:xfrm flipV="1">
            <a:off x="3383280" y="2331720"/>
            <a:ext cx="548640" cy="274320"/>
          </a:xfrm>
          <a:prstGeom prst="line">
            <a:avLst/>
          </a:prstGeom>
          <a:noFill/>
          <a:ln w="25400">
            <a:solidFill>
              <a:srgbClr val="5B7A82"/>
            </a:solidFill>
            <a:prstDash val="solid"/>
            <a:tailEnd type="triangle"/>
          </a:ln>
        </p:spPr>
      </p:sp>
      <p:sp>
        <p:nvSpPr>
          <p:cNvPr id="18" name="Shape 16"/>
          <p:cNvSpPr/>
          <p:nvPr/>
        </p:nvSpPr>
        <p:spPr>
          <a:xfrm>
            <a:off x="3383280" y="2971800"/>
            <a:ext cx="548640" cy="1097280"/>
          </a:xfrm>
          <a:prstGeom prst="line">
            <a:avLst/>
          </a:prstGeom>
          <a:noFill/>
          <a:ln w="25400">
            <a:solidFill>
              <a:srgbClr val="5B7A82"/>
            </a:solidFill>
            <a:prstDash val="solid"/>
            <a:tailEnd type="triangle"/>
          </a:ln>
        </p:spPr>
      </p:sp>
      <p:sp>
        <p:nvSpPr>
          <p:cNvPr id="19" name="Shape 17"/>
          <p:cNvSpPr/>
          <p:nvPr/>
        </p:nvSpPr>
        <p:spPr>
          <a:xfrm>
            <a:off x="7680960" y="2331720"/>
            <a:ext cx="548640" cy="365760"/>
          </a:xfrm>
          <a:prstGeom prst="line">
            <a:avLst/>
          </a:prstGeom>
          <a:noFill/>
          <a:ln w="25400">
            <a:solidFill>
              <a:srgbClr val="5B7A82"/>
            </a:solidFill>
            <a:prstDash val="solid"/>
            <a:tailEnd type="triangle"/>
          </a:ln>
        </p:spPr>
      </p:sp>
      <p:sp>
        <p:nvSpPr>
          <p:cNvPr id="20" name="Shape 18"/>
          <p:cNvSpPr/>
          <p:nvPr/>
        </p:nvSpPr>
        <p:spPr>
          <a:xfrm flipV="1">
            <a:off x="7680960" y="3108960"/>
            <a:ext cx="548640" cy="960120"/>
          </a:xfrm>
          <a:prstGeom prst="line">
            <a:avLst/>
          </a:prstGeom>
          <a:noFill/>
          <a:ln w="25400">
            <a:solidFill>
              <a:srgbClr val="5B7A82"/>
            </a:solidFill>
            <a:prstDash val="solid"/>
            <a:tailEnd type="triangle"/>
          </a:ln>
        </p:spPr>
      </p:sp>
      <p:sp>
        <p:nvSpPr>
          <p:cNvPr id="21" name="Text 19"/>
          <p:cNvSpPr/>
          <p:nvPr/>
        </p:nvSpPr>
        <p:spPr>
          <a:xfrm>
            <a:off x="548640" y="5120640"/>
            <a:ext cx="10972800" cy="411480"/>
          </a:xfrm>
          <a:prstGeom prst="rect">
            <a:avLst/>
          </a:prstGeom>
          <a:noFill/>
          <a:ln/>
        </p:spPr>
        <p:txBody>
          <a:bodyPr wrap="square" lIns="0" tIns="0" rIns="0" bIns="0" rtlCol="0" anchor="ctr"/>
          <a:lstStyle/>
          <a:p>
            <a:pPr indent="0" marL="0">
              <a:buNone/>
            </a:pPr>
            <a:r>
              <a:rPr lang="en-US" sz="1350" i="1" dirty="0">
                <a:solidFill>
                  <a:srgbClr val="028090"/>
                </a:solidFill>
                <a:latin typeface="Calibri" pitchFamily="34" charset="0"/>
                <a:ea typeface="Calibri" pitchFamily="34" charset="-122"/>
                <a:cs typeface="Calibri" pitchFamily="34" charset="-120"/>
              </a:rPr>
              <a:t>Switching the chat model mid-conversation changes only Track B — your data pipeline never varies.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2 · Abdallah</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A private, fine-tuned BERT intent router</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User text is classified in-house — not shipped to a third party to be understood</a:t>
            </a:r>
            <a:endParaRPr lang="en-US" sz="1500" dirty="0"/>
          </a:p>
        </p:txBody>
      </p:sp>
      <p:sp>
        <p:nvSpPr>
          <p:cNvPr id="5" name="Text 3"/>
          <p:cNvSpPr/>
          <p:nvPr/>
        </p:nvSpPr>
        <p:spPr>
          <a:xfrm>
            <a:off x="548640" y="2011680"/>
            <a:ext cx="3383280" cy="86868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96.7%</a:t>
            </a:r>
            <a:endParaRPr lang="en-US" sz="4400" dirty="0"/>
          </a:p>
        </p:txBody>
      </p:sp>
      <p:sp>
        <p:nvSpPr>
          <p:cNvPr id="6" name="Text 4"/>
          <p:cNvSpPr/>
          <p:nvPr/>
        </p:nvSpPr>
        <p:spPr>
          <a:xfrm>
            <a:off x="548640" y="2880360"/>
            <a:ext cx="338328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hybrid router accuracy on an</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independent shadow test set</a:t>
            </a:r>
            <a:endParaRPr lang="en-US" sz="1250" dirty="0"/>
          </a:p>
        </p:txBody>
      </p:sp>
      <p:sp>
        <p:nvSpPr>
          <p:cNvPr id="7" name="Text 5"/>
          <p:cNvSpPr/>
          <p:nvPr/>
        </p:nvSpPr>
        <p:spPr>
          <a:xfrm>
            <a:off x="4389120" y="2011680"/>
            <a:ext cx="3383280" cy="868680"/>
          </a:xfrm>
          <a:prstGeom prst="rect">
            <a:avLst/>
          </a:prstGeom>
          <a:noFill/>
          <a:ln/>
        </p:spPr>
        <p:txBody>
          <a:bodyPr wrap="square" lIns="0" tIns="0" rIns="0" bIns="0" rtlCol="0" anchor="ctr"/>
          <a:lstStyle/>
          <a:p>
            <a:pPr algn="ctr" indent="0" marL="0">
              <a:buNone/>
            </a:pPr>
            <a:r>
              <a:rPr lang="en-US" sz="4400" b="1" dirty="0">
                <a:solidFill>
                  <a:srgbClr val="00A896"/>
                </a:solidFill>
                <a:latin typeface="Cambria" pitchFamily="34" charset="0"/>
                <a:ea typeface="Cambria" pitchFamily="34" charset="-122"/>
                <a:cs typeface="Cambria" pitchFamily="34" charset="-120"/>
              </a:rPr>
              <a:t>0.99</a:t>
            </a:r>
            <a:endParaRPr lang="en-US" sz="4400" dirty="0"/>
          </a:p>
        </p:txBody>
      </p:sp>
      <p:sp>
        <p:nvSpPr>
          <p:cNvPr id="8" name="Text 6"/>
          <p:cNvSpPr/>
          <p:nvPr/>
        </p:nvSpPr>
        <p:spPr>
          <a:xfrm>
            <a:off x="4389120" y="2880360"/>
            <a:ext cx="338328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typical classifier confidence on</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unambiguous intents (live prod)</a:t>
            </a:r>
            <a:endParaRPr lang="en-US" sz="1250" dirty="0"/>
          </a:p>
        </p:txBody>
      </p:sp>
      <p:sp>
        <p:nvSpPr>
          <p:cNvPr id="9" name="Text 7"/>
          <p:cNvSpPr/>
          <p:nvPr/>
        </p:nvSpPr>
        <p:spPr>
          <a:xfrm>
            <a:off x="8229600" y="2011680"/>
            <a:ext cx="3383280" cy="868680"/>
          </a:xfrm>
          <a:prstGeom prst="rect">
            <a:avLst/>
          </a:prstGeom>
          <a:noFill/>
          <a:ln/>
        </p:spPr>
        <p:txBody>
          <a:bodyPr wrap="square" lIns="0" tIns="0" rIns="0" bIns="0" rtlCol="0" anchor="ctr"/>
          <a:lstStyle/>
          <a:p>
            <a:pPr algn="ctr" indent="0" marL="0">
              <a:buNone/>
            </a:pPr>
            <a:r>
              <a:rPr lang="en-US" sz="4400" b="1" dirty="0">
                <a:solidFill>
                  <a:srgbClr val="07333B"/>
                </a:solidFill>
                <a:latin typeface="Cambria" pitchFamily="34" charset="0"/>
                <a:ea typeface="Cambria" pitchFamily="34" charset="-122"/>
                <a:cs typeface="Cambria" pitchFamily="34" charset="-120"/>
              </a:rPr>
              <a:t>&lt;0.5s</a:t>
            </a:r>
            <a:endParaRPr lang="en-US" sz="4400" dirty="0"/>
          </a:p>
        </p:txBody>
      </p:sp>
      <p:sp>
        <p:nvSpPr>
          <p:cNvPr id="10" name="Text 8"/>
          <p:cNvSpPr/>
          <p:nvPr/>
        </p:nvSpPr>
        <p:spPr>
          <a:xfrm>
            <a:off x="8229600" y="2880360"/>
            <a:ext cx="338328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Arabic expense parsed, categorized</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&amp; stored — measured on production</a:t>
            </a:r>
            <a:endParaRPr lang="en-US" sz="1250" dirty="0"/>
          </a:p>
        </p:txBody>
      </p:sp>
      <p:sp>
        <p:nvSpPr>
          <p:cNvPr id="11" name="Text 9"/>
          <p:cNvSpPr/>
          <p:nvPr/>
        </p:nvSpPr>
        <p:spPr>
          <a:xfrm>
            <a:off x="548640" y="3977640"/>
            <a:ext cx="11064240" cy="2011680"/>
          </a:xfrm>
          <a:prstGeom prst="rect">
            <a:avLst/>
          </a:prstGeom>
          <a:noFill/>
          <a:ln/>
        </p:spPr>
        <p:txBody>
          <a:bodyPr wrap="square" lIns="0" tIns="0" rIns="0" bIns="0" rtlCol="0" anchor="t"/>
          <a:lstStyle/>
          <a:p>
            <a:pPr marL="177800" indent="-177800">
              <a:spcAft>
                <a:spcPts val="1000"/>
              </a:spcAft>
              <a:buSzPct val="100000"/>
              <a:buChar char="•"/>
            </a:pPr>
            <a:r>
              <a:rPr lang="en-US" sz="1450" dirty="0">
                <a:solidFill>
                  <a:srgbClr val="16303A"/>
                </a:solidFill>
                <a:latin typeface="Calibri" pitchFamily="34" charset="0"/>
                <a:ea typeface="Calibri" pitchFamily="34" charset="-122"/>
                <a:cs typeface="Calibri" pitchFamily="34" charset="-120"/>
              </a:rPr>
              <a:t>Fine-tuned BertForSequenceClassification over our intent taxonomy (log, query, goal, chat, …)</a:t>
            </a:r>
            <a:endParaRPr lang="en-US" sz="1450" dirty="0"/>
          </a:p>
          <a:p>
            <a:pPr marL="177800" indent="-177800">
              <a:spcAft>
                <a:spcPts val="1000"/>
              </a:spcAft>
              <a:buSzPct val="100000"/>
              <a:buChar char="•"/>
            </a:pPr>
            <a:r>
              <a:rPr lang="en-US" sz="1450" dirty="0">
                <a:solidFill>
                  <a:srgbClr val="16303A"/>
                </a:solidFill>
                <a:latin typeface="Calibri" pitchFamily="34" charset="0"/>
                <a:ea typeface="Calibri" pitchFamily="34" charset="-122"/>
                <a:cs typeface="Calibri" pitchFamily="34" charset="-120"/>
              </a:rPr>
              <a:t>Raw BERT alone ≈ 60–68% — a deterministic high-precision rule router wraps it and lifts the hybrid to ≈ 96.7%</a:t>
            </a:r>
            <a:endParaRPr lang="en-US" sz="1450" dirty="0"/>
          </a:p>
          <a:p>
            <a:pPr marL="177800" indent="-177800">
              <a:spcAft>
                <a:spcPts val="1000"/>
              </a:spcAft>
              <a:buSzPct val="100000"/>
              <a:buChar char="•"/>
            </a:pPr>
            <a:r>
              <a:rPr lang="en-US" sz="1450" dirty="0">
                <a:solidFill>
                  <a:srgbClr val="16303A"/>
                </a:solidFill>
                <a:latin typeface="Calibri" pitchFamily="34" charset="0"/>
                <a:ea typeface="Calibri" pitchFamily="34" charset="-122"/>
                <a:cs typeface="Calibri" pitchFamily="34" charset="-120"/>
              </a:rPr>
              <a:t>Golden-case CI gate: every build replays bilingual labeled cases offline — intent accuracy is a merge blocker, not a hope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2 · Abdallah</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A generative layer built for failure</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Free-tier cloud models fail often; users should never notice</a:t>
            </a:r>
            <a:endParaRPr lang="en-US" sz="1500" dirty="0"/>
          </a:p>
        </p:txBody>
      </p:sp>
      <p:sp>
        <p:nvSpPr>
          <p:cNvPr id="5" name="Shape 3"/>
          <p:cNvSpPr/>
          <p:nvPr/>
        </p:nvSpPr>
        <p:spPr>
          <a:xfrm>
            <a:off x="548640" y="1783080"/>
            <a:ext cx="530352" cy="530352"/>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665317" y="1899757"/>
            <a:ext cx="296997" cy="296997"/>
          </a:xfrm>
          <a:prstGeom prst="rect">
            <a:avLst/>
          </a:prstGeom>
        </p:spPr>
      </p:pic>
      <p:sp>
        <p:nvSpPr>
          <p:cNvPr id="7" name="Text 4"/>
          <p:cNvSpPr/>
          <p:nvPr/>
        </p:nvSpPr>
        <p:spPr>
          <a:xfrm>
            <a:off x="1325880" y="1755648"/>
            <a:ext cx="10241280" cy="365760"/>
          </a:xfrm>
          <a:prstGeom prst="rect">
            <a:avLst/>
          </a:prstGeom>
          <a:noFill/>
          <a:ln/>
        </p:spPr>
        <p:txBody>
          <a:bodyPr wrap="square" lIns="0" tIns="0" rIns="0" bIns="0" rtlCol="0" anchor="ctr"/>
          <a:lstStyle/>
          <a:p>
            <a:pPr indent="0" marL="0">
              <a:buNone/>
            </a:pPr>
            <a:r>
              <a:rPr lang="en-US" sz="1600" b="1" dirty="0">
                <a:solidFill>
                  <a:srgbClr val="16303A"/>
                </a:solidFill>
                <a:latin typeface="Calibri" pitchFamily="34" charset="0"/>
                <a:ea typeface="Calibri" pitchFamily="34" charset="-122"/>
                <a:cs typeface="Calibri" pitchFamily="34" charset="-120"/>
              </a:rPr>
              <a:t>Server-side fallback chain</a:t>
            </a:r>
            <a:endParaRPr lang="en-US" sz="1600" dirty="0"/>
          </a:p>
        </p:txBody>
      </p:sp>
      <p:sp>
        <p:nvSpPr>
          <p:cNvPr id="8" name="Text 5"/>
          <p:cNvSpPr/>
          <p:nvPr/>
        </p:nvSpPr>
        <p:spPr>
          <a:xfrm>
            <a:off x="1325880" y="2121408"/>
            <a:ext cx="10607040" cy="457200"/>
          </a:xfrm>
          <a:prstGeom prst="rect">
            <a:avLst/>
          </a:prstGeom>
          <a:noFill/>
          <a:ln/>
        </p:spPr>
        <p:txBody>
          <a:bodyPr wrap="square" lIns="0" tIns="0" rIns="0" bIns="0" rtlCol="0" anchor="ctr"/>
          <a:lstStyle/>
          <a:p>
            <a:pPr indent="0" marL="0">
              <a:buNone/>
            </a:pPr>
            <a:r>
              <a:rPr lang="en-US" sz="1300" dirty="0">
                <a:solidFill>
                  <a:srgbClr val="5B7A82"/>
                </a:solidFill>
                <a:latin typeface="Calibri" pitchFamily="34" charset="0"/>
                <a:ea typeface="Calibri" pitchFamily="34" charset="-122"/>
                <a:cs typeface="Calibri" pitchFamily="34" charset="-120"/>
              </a:rPr>
              <a:t>Each request carries a same-class backup model; honest reporting of which model actually served</a:t>
            </a:r>
            <a:endParaRPr lang="en-US" sz="1300" dirty="0"/>
          </a:p>
        </p:txBody>
      </p:sp>
      <p:sp>
        <p:nvSpPr>
          <p:cNvPr id="9" name="Shape 6"/>
          <p:cNvSpPr/>
          <p:nvPr/>
        </p:nvSpPr>
        <p:spPr>
          <a:xfrm>
            <a:off x="548640" y="2834640"/>
            <a:ext cx="530352" cy="530352"/>
          </a:xfrm>
          <a:prstGeom prst="ellipse">
            <a:avLst/>
          </a:prstGeom>
          <a:solidFill>
            <a:srgbClr val="028090"/>
          </a:solidFill>
          <a:ln/>
        </p:spPr>
      </p:sp>
      <p:pic>
        <p:nvPicPr>
          <p:cNvPr id="10" name="Image 1" descr="preencoded.png">    </p:cNvPr>
          <p:cNvPicPr>
            <a:picLocks noChangeAspect="1"/>
          </p:cNvPicPr>
          <p:nvPr/>
        </p:nvPicPr>
        <p:blipFill>
          <a:blip r:embed="rId2"/>
          <a:stretch>
            <a:fillRect/>
          </a:stretch>
        </p:blipFill>
        <p:spPr>
          <a:xfrm>
            <a:off x="665317" y="2951317"/>
            <a:ext cx="296997" cy="296997"/>
          </a:xfrm>
          <a:prstGeom prst="rect">
            <a:avLst/>
          </a:prstGeom>
        </p:spPr>
      </p:pic>
      <p:sp>
        <p:nvSpPr>
          <p:cNvPr id="11" name="Text 7"/>
          <p:cNvSpPr/>
          <p:nvPr/>
        </p:nvSpPr>
        <p:spPr>
          <a:xfrm>
            <a:off x="1325880" y="2807208"/>
            <a:ext cx="10241280" cy="365760"/>
          </a:xfrm>
          <a:prstGeom prst="rect">
            <a:avLst/>
          </a:prstGeom>
          <a:noFill/>
          <a:ln/>
        </p:spPr>
        <p:txBody>
          <a:bodyPr wrap="square" lIns="0" tIns="0" rIns="0" bIns="0" rtlCol="0" anchor="ctr"/>
          <a:lstStyle/>
          <a:p>
            <a:pPr indent="0" marL="0">
              <a:buNone/>
            </a:pPr>
            <a:r>
              <a:rPr lang="en-US" sz="1600" b="1" dirty="0">
                <a:solidFill>
                  <a:srgbClr val="16303A"/>
                </a:solidFill>
                <a:latin typeface="Calibri" pitchFamily="34" charset="0"/>
                <a:ea typeface="Calibri" pitchFamily="34" charset="-122"/>
                <a:cs typeface="Calibri" pitchFamily="34" charset="-120"/>
              </a:rPr>
              <a:t>Streaming with a stall watchdog</a:t>
            </a:r>
            <a:endParaRPr lang="en-US" sz="1600" dirty="0"/>
          </a:p>
        </p:txBody>
      </p:sp>
      <p:sp>
        <p:nvSpPr>
          <p:cNvPr id="12" name="Text 8"/>
          <p:cNvSpPr/>
          <p:nvPr/>
        </p:nvSpPr>
        <p:spPr>
          <a:xfrm>
            <a:off x="1325880" y="3172968"/>
            <a:ext cx="10607040" cy="457200"/>
          </a:xfrm>
          <a:prstGeom prst="rect">
            <a:avLst/>
          </a:prstGeom>
          <a:noFill/>
          <a:ln/>
        </p:spPr>
        <p:txBody>
          <a:bodyPr wrap="square" lIns="0" tIns="0" rIns="0" bIns="0" rtlCol="0" anchor="ctr"/>
          <a:lstStyle/>
          <a:p>
            <a:pPr indent="0" marL="0">
              <a:buNone/>
            </a:pPr>
            <a:r>
              <a:rPr lang="en-US" sz="1300" dirty="0">
                <a:solidFill>
                  <a:srgbClr val="5B7A82"/>
                </a:solidFill>
                <a:latin typeface="Calibri" pitchFamily="34" charset="0"/>
                <a:ea typeface="Calibri" pitchFamily="34" charset="-122"/>
                <a:cs typeface="Calibri" pitchFamily="34" charset="-120"/>
              </a:rPr>
              <a:t>SSE token streaming; a 45 s per-chunk watchdog kills silent hung streams and retries</a:t>
            </a:r>
            <a:endParaRPr lang="en-US" sz="1300" dirty="0"/>
          </a:p>
        </p:txBody>
      </p:sp>
      <p:sp>
        <p:nvSpPr>
          <p:cNvPr id="13" name="Shape 9"/>
          <p:cNvSpPr/>
          <p:nvPr/>
        </p:nvSpPr>
        <p:spPr>
          <a:xfrm>
            <a:off x="548640" y="3886200"/>
            <a:ext cx="530352" cy="530352"/>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665317" y="4002877"/>
            <a:ext cx="296997" cy="296997"/>
          </a:xfrm>
          <a:prstGeom prst="rect">
            <a:avLst/>
          </a:prstGeom>
        </p:spPr>
      </p:pic>
      <p:sp>
        <p:nvSpPr>
          <p:cNvPr id="15" name="Text 10"/>
          <p:cNvSpPr/>
          <p:nvPr/>
        </p:nvSpPr>
        <p:spPr>
          <a:xfrm>
            <a:off x="1325880" y="3858768"/>
            <a:ext cx="10241280" cy="365760"/>
          </a:xfrm>
          <a:prstGeom prst="rect">
            <a:avLst/>
          </a:prstGeom>
          <a:noFill/>
          <a:ln/>
        </p:spPr>
        <p:txBody>
          <a:bodyPr wrap="square" lIns="0" tIns="0" rIns="0" bIns="0" rtlCol="0" anchor="ctr"/>
          <a:lstStyle/>
          <a:p>
            <a:pPr indent="0" marL="0">
              <a:buNone/>
            </a:pPr>
            <a:r>
              <a:rPr lang="en-US" sz="1600" b="1" dirty="0">
                <a:solidFill>
                  <a:srgbClr val="16303A"/>
                </a:solidFill>
                <a:latin typeface="Calibri" pitchFamily="34" charset="0"/>
                <a:ea typeface="Calibri" pitchFamily="34" charset="-122"/>
                <a:cs typeface="Calibri" pitchFamily="34" charset="-120"/>
              </a:rPr>
              <a:t>Context budget</a:t>
            </a:r>
            <a:endParaRPr lang="en-US" sz="1600" dirty="0"/>
          </a:p>
        </p:txBody>
      </p:sp>
      <p:sp>
        <p:nvSpPr>
          <p:cNvPr id="16" name="Text 11"/>
          <p:cNvSpPr/>
          <p:nvPr/>
        </p:nvSpPr>
        <p:spPr>
          <a:xfrm>
            <a:off x="1325880" y="4224528"/>
            <a:ext cx="10607040" cy="457200"/>
          </a:xfrm>
          <a:prstGeom prst="rect">
            <a:avLst/>
          </a:prstGeom>
          <a:noFill/>
          <a:ln/>
        </p:spPr>
        <p:txBody>
          <a:bodyPr wrap="square" lIns="0" tIns="0" rIns="0" bIns="0" rtlCol="0" anchor="ctr"/>
          <a:lstStyle/>
          <a:p>
            <a:pPr indent="0" marL="0">
              <a:buNone/>
            </a:pPr>
            <a:r>
              <a:rPr lang="en-US" sz="1300" dirty="0">
                <a:solidFill>
                  <a:srgbClr val="5B7A82"/>
                </a:solidFill>
                <a:latin typeface="Calibri" pitchFamily="34" charset="0"/>
                <a:ea typeface="Calibri" pitchFamily="34" charset="-122"/>
                <a:cs typeface="Calibri" pitchFamily="34" charset="-120"/>
              </a:rPr>
              <a:t>Injected history/memory capped at 24 k chars — oldest turns dropped first, user memory never dropped</a:t>
            </a:r>
            <a:endParaRPr lang="en-US" sz="1300" dirty="0"/>
          </a:p>
        </p:txBody>
      </p:sp>
      <p:sp>
        <p:nvSpPr>
          <p:cNvPr id="17" name="Shape 12"/>
          <p:cNvSpPr/>
          <p:nvPr/>
        </p:nvSpPr>
        <p:spPr>
          <a:xfrm>
            <a:off x="548640" y="4937760"/>
            <a:ext cx="530352" cy="530352"/>
          </a:xfrm>
          <a:prstGeom prst="ellipse">
            <a:avLst/>
          </a:prstGeom>
          <a:solidFill>
            <a:srgbClr val="028090"/>
          </a:solidFill>
          <a:ln/>
        </p:spPr>
      </p:sp>
      <p:pic>
        <p:nvPicPr>
          <p:cNvPr id="18" name="Image 3" descr="preencoded.png">    </p:cNvPr>
          <p:cNvPicPr>
            <a:picLocks noChangeAspect="1"/>
          </p:cNvPicPr>
          <p:nvPr/>
        </p:nvPicPr>
        <p:blipFill>
          <a:blip r:embed="rId4"/>
          <a:stretch>
            <a:fillRect/>
          </a:stretch>
        </p:blipFill>
        <p:spPr>
          <a:xfrm>
            <a:off x="665317" y="5054437"/>
            <a:ext cx="296997" cy="296997"/>
          </a:xfrm>
          <a:prstGeom prst="rect">
            <a:avLst/>
          </a:prstGeom>
        </p:spPr>
      </p:pic>
      <p:sp>
        <p:nvSpPr>
          <p:cNvPr id="19" name="Text 13"/>
          <p:cNvSpPr/>
          <p:nvPr/>
        </p:nvSpPr>
        <p:spPr>
          <a:xfrm>
            <a:off x="1325880" y="4910328"/>
            <a:ext cx="10241280" cy="365760"/>
          </a:xfrm>
          <a:prstGeom prst="rect">
            <a:avLst/>
          </a:prstGeom>
          <a:noFill/>
          <a:ln/>
        </p:spPr>
        <p:txBody>
          <a:bodyPr wrap="square" lIns="0" tIns="0" rIns="0" bIns="0" rtlCol="0" anchor="ctr"/>
          <a:lstStyle/>
          <a:p>
            <a:pPr indent="0" marL="0">
              <a:buNone/>
            </a:pPr>
            <a:r>
              <a:rPr lang="en-US" sz="1600" b="1" dirty="0">
                <a:solidFill>
                  <a:srgbClr val="16303A"/>
                </a:solidFill>
                <a:latin typeface="Calibri" pitchFamily="34" charset="0"/>
                <a:ea typeface="Calibri" pitchFamily="34" charset="-122"/>
                <a:cs typeface="Calibri" pitchFamily="34" charset="-120"/>
              </a:rPr>
              <a:t>Deterministic last resort</a:t>
            </a:r>
            <a:endParaRPr lang="en-US" sz="1600" dirty="0"/>
          </a:p>
        </p:txBody>
      </p:sp>
      <p:sp>
        <p:nvSpPr>
          <p:cNvPr id="20" name="Text 14"/>
          <p:cNvSpPr/>
          <p:nvPr/>
        </p:nvSpPr>
        <p:spPr>
          <a:xfrm>
            <a:off x="1325880" y="5276088"/>
            <a:ext cx="10607040" cy="457200"/>
          </a:xfrm>
          <a:prstGeom prst="rect">
            <a:avLst/>
          </a:prstGeom>
          <a:noFill/>
          <a:ln/>
        </p:spPr>
        <p:txBody>
          <a:bodyPr wrap="square" lIns="0" tIns="0" rIns="0" bIns="0" rtlCol="0" anchor="ctr"/>
          <a:lstStyle/>
          <a:p>
            <a:pPr indent="0" marL="0">
              <a:buNone/>
            </a:pPr>
            <a:r>
              <a:rPr lang="en-US" sz="1300" dirty="0">
                <a:solidFill>
                  <a:srgbClr val="5B7A82"/>
                </a:solidFill>
                <a:latin typeface="Calibri" pitchFamily="34" charset="0"/>
                <a:ea typeface="Calibri" pitchFamily="34" charset="-122"/>
                <a:cs typeface="Calibri" pitchFamily="34" charset="-120"/>
              </a:rPr>
              <a:t>If every model fails, Track A still logged the data — the assistant degrades to a factual templated reply, never an error page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2 · Abdallah</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Bilingual by detection, voice-first by design</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The reply follows the language you USED — not the app's UI setting</a:t>
            </a:r>
            <a:endParaRPr lang="en-US" sz="1500" dirty="0"/>
          </a:p>
        </p:txBody>
      </p:sp>
      <p:sp>
        <p:nvSpPr>
          <p:cNvPr id="5" name="Shape 3"/>
          <p:cNvSpPr/>
          <p:nvPr/>
        </p:nvSpPr>
        <p:spPr>
          <a:xfrm>
            <a:off x="548640" y="1783080"/>
            <a:ext cx="5394960" cy="4114800"/>
          </a:xfrm>
          <a:prstGeom prst="roundRect">
            <a:avLst>
              <a:gd name="adj" fmla="val 2000"/>
            </a:avLst>
          </a:prstGeom>
          <a:solidFill>
            <a:srgbClr val="EAF4F4"/>
          </a:solidFill>
          <a:ln/>
        </p:spPr>
      </p:sp>
      <p:sp>
        <p:nvSpPr>
          <p:cNvPr id="6" name="Text 4"/>
          <p:cNvSpPr/>
          <p:nvPr/>
        </p:nvSpPr>
        <p:spPr>
          <a:xfrm>
            <a:off x="868680" y="2011680"/>
            <a:ext cx="4572000" cy="36576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Language</a:t>
            </a:r>
            <a:endParaRPr lang="en-US" sz="1700" dirty="0"/>
          </a:p>
        </p:txBody>
      </p:sp>
      <p:sp>
        <p:nvSpPr>
          <p:cNvPr id="7" name="Text 5"/>
          <p:cNvSpPr/>
          <p:nvPr/>
        </p:nvSpPr>
        <p:spPr>
          <a:xfrm>
            <a:off x="868680" y="2468880"/>
            <a:ext cx="4846320" cy="310896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16303A"/>
                </a:solidFill>
                <a:latin typeface="Calibri" pitchFamily="34" charset="0"/>
                <a:ea typeface="Calibri" pitchFamily="34" charset="-122"/>
                <a:cs typeface="Calibri" pitchFamily="34" charset="-120"/>
              </a:rPr>
              <a:t>Per-turn script detection: Arabic in an English UI gets an Arabic answer (verified live)</a:t>
            </a:r>
            <a:endParaRPr lang="en-US" sz="1350" dirty="0"/>
          </a:p>
          <a:p>
            <a:pPr marL="177800" indent="-177800">
              <a:spcAft>
                <a:spcPts val="1000"/>
              </a:spcAft>
              <a:buSzPct val="100000"/>
              <a:buChar char="•"/>
            </a:pPr>
            <a:r>
              <a:rPr lang="en-US" sz="1350" dirty="0">
                <a:solidFill>
                  <a:srgbClr val="16303A"/>
                </a:solidFill>
                <a:latin typeface="Calibri" pitchFamily="34" charset="0"/>
                <a:ea typeface="Calibri" pitchFamily="34" charset="-122"/>
                <a:cs typeface="Calibri" pitchFamily="34" charset="-120"/>
              </a:rPr>
              <a:t>Arabic NLU lexicon: «كم أنفقت» → spend query; dual forms (ساعتين، لترين) handled</a:t>
            </a:r>
            <a:endParaRPr lang="en-US" sz="1350" dirty="0"/>
          </a:p>
          <a:p>
            <a:pPr marL="177800" indent="-177800">
              <a:spcAft>
                <a:spcPts val="1000"/>
              </a:spcAft>
              <a:buSzPct val="100000"/>
              <a:buChar char="•"/>
            </a:pPr>
            <a:r>
              <a:rPr lang="en-US" sz="1350" dirty="0">
                <a:solidFill>
                  <a:srgbClr val="16303A"/>
                </a:solidFill>
                <a:latin typeface="Calibri" pitchFamily="34" charset="0"/>
                <a:ea typeface="Calibri" pitchFamily="34" charset="-122"/>
                <a:cs typeface="Calibri" pitchFamily="34" charset="-120"/>
              </a:rPr>
              <a:t>Full RTL interface, Arabic typography, localized insights &amp; categories</a:t>
            </a:r>
            <a:endParaRPr lang="en-US" sz="1350" dirty="0"/>
          </a:p>
        </p:txBody>
      </p:sp>
      <p:sp>
        <p:nvSpPr>
          <p:cNvPr id="8" name="Shape 6"/>
          <p:cNvSpPr/>
          <p:nvPr/>
        </p:nvSpPr>
        <p:spPr>
          <a:xfrm>
            <a:off x="6263640" y="1783080"/>
            <a:ext cx="5394960" cy="4114800"/>
          </a:xfrm>
          <a:prstGeom prst="roundRect">
            <a:avLst>
              <a:gd name="adj" fmla="val 2000"/>
            </a:avLst>
          </a:prstGeom>
          <a:solidFill>
            <a:srgbClr val="EAF4F4"/>
          </a:solidFill>
          <a:ln/>
        </p:spPr>
      </p:sp>
      <p:sp>
        <p:nvSpPr>
          <p:cNvPr id="9" name="Text 7"/>
          <p:cNvSpPr/>
          <p:nvPr/>
        </p:nvSpPr>
        <p:spPr>
          <a:xfrm>
            <a:off x="6583680" y="2011680"/>
            <a:ext cx="4572000" cy="36576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Voice</a:t>
            </a:r>
            <a:endParaRPr lang="en-US" sz="1700" dirty="0"/>
          </a:p>
        </p:txBody>
      </p:sp>
      <p:sp>
        <p:nvSpPr>
          <p:cNvPr id="10" name="Text 8"/>
          <p:cNvSpPr/>
          <p:nvPr/>
        </p:nvSpPr>
        <p:spPr>
          <a:xfrm>
            <a:off x="6583680" y="2468880"/>
            <a:ext cx="4846320" cy="310896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16303A"/>
                </a:solidFill>
                <a:latin typeface="Calibri" pitchFamily="34" charset="0"/>
                <a:ea typeface="Calibri" pitchFamily="34" charset="-122"/>
                <a:cs typeface="Calibri" pitchFamily="34" charset="-120"/>
              </a:rPr>
              <a:t>Speaks replies sentence-by-sentence while still streaming — no wait for the full answer</a:t>
            </a:r>
            <a:endParaRPr lang="en-US" sz="1350" dirty="0"/>
          </a:p>
          <a:p>
            <a:pPr marL="177800" indent="-177800">
              <a:spcAft>
                <a:spcPts val="1000"/>
              </a:spcAft>
              <a:buSzPct val="100000"/>
              <a:buChar char="•"/>
            </a:pPr>
            <a:r>
              <a:rPr lang="en-US" sz="1350" dirty="0">
                <a:solidFill>
                  <a:srgbClr val="16303A"/>
                </a:solidFill>
                <a:latin typeface="Calibri" pitchFamily="34" charset="0"/>
                <a:ea typeface="Calibri" pitchFamily="34" charset="-122"/>
                <a:cs typeface="Calibri" pitchFamily="34" charset="-120"/>
              </a:rPr>
              <a:t>Barge-in: interrupt mid-speech, it stops and listens (parallel recognizer + abort)</a:t>
            </a:r>
            <a:endParaRPr lang="en-US" sz="1350" dirty="0"/>
          </a:p>
          <a:p>
            <a:pPr marL="177800" indent="-177800">
              <a:spcAft>
                <a:spcPts val="1000"/>
              </a:spcAft>
              <a:buSzPct val="100000"/>
              <a:buChar char="•"/>
            </a:pPr>
            <a:r>
              <a:rPr lang="en-US" sz="1350" dirty="0">
                <a:solidFill>
                  <a:srgbClr val="16303A"/>
                </a:solidFill>
                <a:latin typeface="Calibri" pitchFamily="34" charset="0"/>
                <a:ea typeface="Calibri" pitchFamily="34" charset="-122"/>
                <a:cs typeface="Calibri" pitchFamily="34" charset="-120"/>
              </a:rPr>
              <a:t>Whisper cloud STT auto-detects language; Arabic TTS via Groq; hands-free interview mode logs real entries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333B"/>
        </a:solidFill>
      </p:bgPr>
    </p:bg>
    <p:spTree>
      <p:nvGrpSpPr>
        <p:cNvPr id="1" name=""/>
        <p:cNvGrpSpPr/>
        <p:nvPr/>
      </p:nvGrpSpPr>
      <p:grpSpPr>
        <a:xfrm>
          <a:off x="0" y="0"/>
          <a:ext cx="0" cy="0"/>
          <a:chOff x="0" y="0"/>
          <a:chExt cx="0" cy="0"/>
        </a:xfrm>
      </p:grpSpPr>
      <p:sp>
        <p:nvSpPr>
          <p:cNvPr id="2" name="Shape 0"/>
          <p:cNvSpPr/>
          <p:nvPr/>
        </p:nvSpPr>
        <p:spPr>
          <a:xfrm>
            <a:off x="548640" y="1828800"/>
            <a:ext cx="914400" cy="914400"/>
          </a:xfrm>
          <a:prstGeom prst="ellipse">
            <a:avLst/>
          </a:prstGeom>
          <a:solidFill>
            <a:srgbClr val="02C39A"/>
          </a:solidFill>
          <a:ln/>
        </p:spPr>
      </p:sp>
      <p:pic>
        <p:nvPicPr>
          <p:cNvPr id="3" name="Image 0" descr="preencoded.png">    </p:cNvPr>
          <p:cNvPicPr>
            <a:picLocks noChangeAspect="1"/>
          </p:cNvPicPr>
          <p:nvPr/>
        </p:nvPicPr>
        <p:blipFill>
          <a:blip r:embed="rId1"/>
          <a:stretch>
            <a:fillRect/>
          </a:stretch>
        </p:blipFill>
        <p:spPr>
          <a:xfrm>
            <a:off x="749808" y="2029968"/>
            <a:ext cx="512064" cy="512064"/>
          </a:xfrm>
          <a:prstGeom prst="rect">
            <a:avLst/>
          </a:prstGeom>
        </p:spPr>
      </p:pic>
      <p:sp>
        <p:nvSpPr>
          <p:cNvPr id="4" name="Text 1"/>
          <p:cNvSpPr/>
          <p:nvPr/>
        </p:nvSpPr>
        <p:spPr>
          <a:xfrm>
            <a:off x="548640" y="2880360"/>
            <a:ext cx="7315200" cy="411480"/>
          </a:xfrm>
          <a:prstGeom prst="rect">
            <a:avLst/>
          </a:prstGeom>
          <a:noFill/>
          <a:ln/>
        </p:spPr>
        <p:txBody>
          <a:bodyPr wrap="square" lIns="0" tIns="0" rIns="0" bIns="0" rtlCol="0" anchor="ctr"/>
          <a:lstStyle/>
          <a:p>
            <a:pPr indent="0" marL="0">
              <a:buNone/>
            </a:pPr>
            <a:r>
              <a:rPr lang="en-US" sz="1600" b="1" spc="200" kern="0" dirty="0">
                <a:solidFill>
                  <a:srgbClr val="02C39A"/>
                </a:solidFill>
                <a:latin typeface="Calibri" pitchFamily="34" charset="0"/>
                <a:ea typeface="Calibri" pitchFamily="34" charset="-122"/>
                <a:cs typeface="Calibri" pitchFamily="34" charset="-120"/>
              </a:rPr>
              <a:t>PART 3 · ADAM WEHEIDI</a:t>
            </a:r>
            <a:endParaRPr lang="en-US" sz="1600" dirty="0"/>
          </a:p>
        </p:txBody>
      </p:sp>
      <p:sp>
        <p:nvSpPr>
          <p:cNvPr id="5" name="Text 2"/>
          <p:cNvSpPr/>
          <p:nvPr/>
        </p:nvSpPr>
        <p:spPr>
          <a:xfrm>
            <a:off x="548640" y="329184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Features, Quality, Results</a:t>
            </a:r>
            <a:endParaRPr lang="en-US" sz="4000" dirty="0"/>
          </a:p>
        </p:txBody>
      </p:sp>
      <p:sp>
        <p:nvSpPr>
          <p:cNvPr id="6" name="Text 3"/>
          <p:cNvSpPr/>
          <p:nvPr/>
        </p:nvSpPr>
        <p:spPr>
          <a:xfrm>
            <a:off x="548640" y="4343400"/>
            <a:ext cx="10515600" cy="457200"/>
          </a:xfrm>
          <a:prstGeom prst="rect">
            <a:avLst/>
          </a:prstGeom>
          <a:noFill/>
          <a:ln/>
        </p:spPr>
        <p:txBody>
          <a:bodyPr wrap="square" lIns="0" tIns="0" rIns="0" bIns="0" rtlCol="0" anchor="ctr"/>
          <a:lstStyle/>
          <a:p>
            <a:pPr indent="0" marL="0">
              <a:buNone/>
            </a:pPr>
            <a:r>
              <a:rPr lang="en-US" sz="1400" dirty="0">
                <a:solidFill>
                  <a:srgbClr val="BFE3DC"/>
                </a:solidFill>
                <a:latin typeface="Calibri" pitchFamily="34" charset="0"/>
                <a:ea typeface="Calibri" pitchFamily="34" charset="-122"/>
                <a:cs typeface="Calibri" pitchFamily="34" charset="-120"/>
              </a:rPr>
              <a:t>Insight engine   ·   Test pyramid   ·   Live production QA   ·   Limitations &amp; future work</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3 · Adam</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From raw logs to advice you can act on</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A deterministic insight engine — every claim traceable to your data</a:t>
            </a:r>
            <a:endParaRPr lang="en-US" sz="1500" dirty="0"/>
          </a:p>
        </p:txBody>
      </p:sp>
      <p:sp>
        <p:nvSpPr>
          <p:cNvPr id="5" name="Shape 3"/>
          <p:cNvSpPr/>
          <p:nvPr/>
        </p:nvSpPr>
        <p:spPr>
          <a:xfrm>
            <a:off x="548640" y="1783080"/>
            <a:ext cx="502920" cy="50292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659282" y="1893722"/>
            <a:ext cx="281635" cy="281635"/>
          </a:xfrm>
          <a:prstGeom prst="rect">
            <a:avLst/>
          </a:prstGeom>
        </p:spPr>
      </p:pic>
      <p:sp>
        <p:nvSpPr>
          <p:cNvPr id="7" name="Text 4"/>
          <p:cNvSpPr/>
          <p:nvPr/>
        </p:nvSpPr>
        <p:spPr>
          <a:xfrm>
            <a:off x="1280160" y="1737360"/>
            <a:ext cx="4846320" cy="365760"/>
          </a:xfrm>
          <a:prstGeom prst="rect">
            <a:avLst/>
          </a:prstGeom>
          <a:noFill/>
          <a:ln/>
        </p:spPr>
        <p:txBody>
          <a:bodyPr wrap="square" lIns="0" tIns="0" rIns="0" bIns="0" rtlCol="0" anchor="ctr"/>
          <a:lstStyle/>
          <a:p>
            <a:pPr indent="0" marL="0">
              <a:buNone/>
            </a:pPr>
            <a:r>
              <a:rPr lang="en-US" sz="1500" b="1" dirty="0">
                <a:solidFill>
                  <a:srgbClr val="16303A"/>
                </a:solidFill>
                <a:latin typeface="Calibri" pitchFamily="34" charset="0"/>
                <a:ea typeface="Calibri" pitchFamily="34" charset="-122"/>
                <a:cs typeface="Calibri" pitchFamily="34" charset="-120"/>
              </a:rPr>
              <a:t>Cross-domain insights</a:t>
            </a:r>
            <a:endParaRPr lang="en-US" sz="1500" dirty="0"/>
          </a:p>
        </p:txBody>
      </p:sp>
      <p:sp>
        <p:nvSpPr>
          <p:cNvPr id="8" name="Text 5"/>
          <p:cNvSpPr/>
          <p:nvPr/>
        </p:nvSpPr>
        <p:spPr>
          <a:xfrm>
            <a:off x="1280160" y="2103120"/>
            <a:ext cx="4892040" cy="868680"/>
          </a:xfrm>
          <a:prstGeom prst="rect">
            <a:avLst/>
          </a:prstGeom>
          <a:noFill/>
          <a:ln/>
        </p:spPr>
        <p:txBody>
          <a:bodyPr wrap="square" lIns="0" tIns="0" rIns="0" bIns="0" rtlCol="0" anchor="ctr"/>
          <a:lstStyle/>
          <a:p>
            <a:pPr indent="0" marL="0">
              <a:buNone/>
            </a:pPr>
            <a:r>
              <a:rPr lang="en-US" sz="1200" dirty="0">
                <a:solidFill>
                  <a:srgbClr val="5B7A82"/>
                </a:solidFill>
                <a:latin typeface="Calibri" pitchFamily="34" charset="0"/>
                <a:ea typeface="Calibri" pitchFamily="34" charset="-122"/>
                <a:cs typeface="Calibri" pitchFamily="34" charset="-120"/>
              </a:rPr>
              <a:t>“You spend 34% more on days you sleep under 6 h” — from linked health+finance rows</a:t>
            </a:r>
            <a:endParaRPr lang="en-US" sz="1200" dirty="0"/>
          </a:p>
        </p:txBody>
      </p:sp>
      <p:sp>
        <p:nvSpPr>
          <p:cNvPr id="9" name="Shape 6"/>
          <p:cNvSpPr/>
          <p:nvPr/>
        </p:nvSpPr>
        <p:spPr>
          <a:xfrm>
            <a:off x="6217920" y="1783080"/>
            <a:ext cx="502920" cy="502920"/>
          </a:xfrm>
          <a:prstGeom prst="ellipse">
            <a:avLst/>
          </a:prstGeom>
          <a:solidFill>
            <a:srgbClr val="028090"/>
          </a:solidFill>
          <a:ln/>
        </p:spPr>
      </p:sp>
      <p:pic>
        <p:nvPicPr>
          <p:cNvPr id="10" name="Image 1" descr="preencoded.png">    </p:cNvPr>
          <p:cNvPicPr>
            <a:picLocks noChangeAspect="1"/>
          </p:cNvPicPr>
          <p:nvPr/>
        </p:nvPicPr>
        <p:blipFill>
          <a:blip r:embed="rId2"/>
          <a:stretch>
            <a:fillRect/>
          </a:stretch>
        </p:blipFill>
        <p:spPr>
          <a:xfrm>
            <a:off x="6328562" y="1893722"/>
            <a:ext cx="281635" cy="281635"/>
          </a:xfrm>
          <a:prstGeom prst="rect">
            <a:avLst/>
          </a:prstGeom>
        </p:spPr>
      </p:pic>
      <p:sp>
        <p:nvSpPr>
          <p:cNvPr id="11" name="Text 7"/>
          <p:cNvSpPr/>
          <p:nvPr/>
        </p:nvSpPr>
        <p:spPr>
          <a:xfrm>
            <a:off x="6949440" y="1737360"/>
            <a:ext cx="4846320" cy="365760"/>
          </a:xfrm>
          <a:prstGeom prst="rect">
            <a:avLst/>
          </a:prstGeom>
          <a:noFill/>
          <a:ln/>
        </p:spPr>
        <p:txBody>
          <a:bodyPr wrap="square" lIns="0" tIns="0" rIns="0" bIns="0" rtlCol="0" anchor="ctr"/>
          <a:lstStyle/>
          <a:p>
            <a:pPr indent="0" marL="0">
              <a:buNone/>
            </a:pPr>
            <a:r>
              <a:rPr lang="en-US" sz="1500" b="1" dirty="0">
                <a:solidFill>
                  <a:srgbClr val="16303A"/>
                </a:solidFill>
                <a:latin typeface="Calibri" pitchFamily="34" charset="0"/>
                <a:ea typeface="Calibri" pitchFamily="34" charset="-122"/>
                <a:cs typeface="Calibri" pitchFamily="34" charset="-120"/>
              </a:rPr>
              <a:t>Goals with derived progress</a:t>
            </a:r>
            <a:endParaRPr lang="en-US" sz="1500" dirty="0"/>
          </a:p>
        </p:txBody>
      </p:sp>
      <p:sp>
        <p:nvSpPr>
          <p:cNvPr id="12" name="Text 8"/>
          <p:cNvSpPr/>
          <p:nvPr/>
        </p:nvSpPr>
        <p:spPr>
          <a:xfrm>
            <a:off x="6949440" y="2103120"/>
            <a:ext cx="4892040" cy="868680"/>
          </a:xfrm>
          <a:prstGeom prst="rect">
            <a:avLst/>
          </a:prstGeom>
          <a:noFill/>
          <a:ln/>
        </p:spPr>
        <p:txBody>
          <a:bodyPr wrap="square" lIns="0" tIns="0" rIns="0" bIns="0" rtlCol="0" anchor="ctr"/>
          <a:lstStyle/>
          <a:p>
            <a:pPr indent="0" marL="0">
              <a:buNone/>
            </a:pPr>
            <a:r>
              <a:rPr lang="en-US" sz="1200" dirty="0">
                <a:solidFill>
                  <a:srgbClr val="5B7A82"/>
                </a:solidFill>
                <a:latin typeface="Calibri" pitchFamily="34" charset="0"/>
                <a:ea typeface="Calibri" pitchFamily="34" charset="-122"/>
                <a:cs typeface="Calibri" pitchFamily="34" charset="-120"/>
              </a:rPr>
              <a:t>“Save $300/month” tracked from live income−expense, per-currency, no manual updates</a:t>
            </a:r>
            <a:endParaRPr lang="en-US" sz="1200" dirty="0"/>
          </a:p>
        </p:txBody>
      </p:sp>
      <p:sp>
        <p:nvSpPr>
          <p:cNvPr id="13" name="Shape 9"/>
          <p:cNvSpPr/>
          <p:nvPr/>
        </p:nvSpPr>
        <p:spPr>
          <a:xfrm>
            <a:off x="548640" y="3154680"/>
            <a:ext cx="502920" cy="502920"/>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659282" y="3265322"/>
            <a:ext cx="281635" cy="281635"/>
          </a:xfrm>
          <a:prstGeom prst="rect">
            <a:avLst/>
          </a:prstGeom>
        </p:spPr>
      </p:pic>
      <p:sp>
        <p:nvSpPr>
          <p:cNvPr id="15" name="Text 10"/>
          <p:cNvSpPr/>
          <p:nvPr/>
        </p:nvSpPr>
        <p:spPr>
          <a:xfrm>
            <a:off x="1280160" y="3108960"/>
            <a:ext cx="4846320" cy="365760"/>
          </a:xfrm>
          <a:prstGeom prst="rect">
            <a:avLst/>
          </a:prstGeom>
          <a:noFill/>
          <a:ln/>
        </p:spPr>
        <p:txBody>
          <a:bodyPr wrap="square" lIns="0" tIns="0" rIns="0" bIns="0" rtlCol="0" anchor="ctr"/>
          <a:lstStyle/>
          <a:p>
            <a:pPr indent="0" marL="0">
              <a:buNone/>
            </a:pPr>
            <a:r>
              <a:rPr lang="en-US" sz="1500" b="1" dirty="0">
                <a:solidFill>
                  <a:srgbClr val="16303A"/>
                </a:solidFill>
                <a:latin typeface="Calibri" pitchFamily="34" charset="0"/>
                <a:ea typeface="Calibri" pitchFamily="34" charset="-122"/>
                <a:cs typeface="Calibri" pitchFamily="34" charset="-120"/>
              </a:rPr>
              <a:t>Weekly PDF reports</a:t>
            </a:r>
            <a:endParaRPr lang="en-US" sz="1500" dirty="0"/>
          </a:p>
        </p:txBody>
      </p:sp>
      <p:sp>
        <p:nvSpPr>
          <p:cNvPr id="16" name="Text 11"/>
          <p:cNvSpPr/>
          <p:nvPr/>
        </p:nvSpPr>
        <p:spPr>
          <a:xfrm>
            <a:off x="1280160" y="3474720"/>
            <a:ext cx="4892040" cy="868680"/>
          </a:xfrm>
          <a:prstGeom prst="rect">
            <a:avLst/>
          </a:prstGeom>
          <a:noFill/>
          <a:ln/>
        </p:spPr>
        <p:txBody>
          <a:bodyPr wrap="square" lIns="0" tIns="0" rIns="0" bIns="0" rtlCol="0" anchor="ctr"/>
          <a:lstStyle/>
          <a:p>
            <a:pPr indent="0" marL="0">
              <a:buNone/>
            </a:pPr>
            <a:r>
              <a:rPr lang="en-US" sz="1200" dirty="0">
                <a:solidFill>
                  <a:srgbClr val="5B7A82"/>
                </a:solidFill>
                <a:latin typeface="Calibri" pitchFamily="34" charset="0"/>
                <a:ea typeface="Calibri" pitchFamily="34" charset="-122"/>
                <a:cs typeface="Calibri" pitchFamily="34" charset="-120"/>
              </a:rPr>
              <a:t>Hourly scheduler builds a bilingual report; in-app notification on delivery</a:t>
            </a:r>
            <a:endParaRPr lang="en-US" sz="1200" dirty="0"/>
          </a:p>
        </p:txBody>
      </p:sp>
      <p:sp>
        <p:nvSpPr>
          <p:cNvPr id="17" name="Shape 12"/>
          <p:cNvSpPr/>
          <p:nvPr/>
        </p:nvSpPr>
        <p:spPr>
          <a:xfrm>
            <a:off x="6217920" y="3154680"/>
            <a:ext cx="502920" cy="502920"/>
          </a:xfrm>
          <a:prstGeom prst="ellipse">
            <a:avLst/>
          </a:prstGeom>
          <a:solidFill>
            <a:srgbClr val="028090"/>
          </a:solidFill>
          <a:ln/>
        </p:spPr>
      </p:sp>
      <p:pic>
        <p:nvPicPr>
          <p:cNvPr id="18" name="Image 3" descr="preencoded.png">    </p:cNvPr>
          <p:cNvPicPr>
            <a:picLocks noChangeAspect="1"/>
          </p:cNvPicPr>
          <p:nvPr/>
        </p:nvPicPr>
        <p:blipFill>
          <a:blip r:embed="rId4"/>
          <a:stretch>
            <a:fillRect/>
          </a:stretch>
        </p:blipFill>
        <p:spPr>
          <a:xfrm>
            <a:off x="6328562" y="3265322"/>
            <a:ext cx="281635" cy="281635"/>
          </a:xfrm>
          <a:prstGeom prst="rect">
            <a:avLst/>
          </a:prstGeom>
        </p:spPr>
      </p:pic>
      <p:sp>
        <p:nvSpPr>
          <p:cNvPr id="19" name="Text 13"/>
          <p:cNvSpPr/>
          <p:nvPr/>
        </p:nvSpPr>
        <p:spPr>
          <a:xfrm>
            <a:off x="6949440" y="3108960"/>
            <a:ext cx="4846320" cy="365760"/>
          </a:xfrm>
          <a:prstGeom prst="rect">
            <a:avLst/>
          </a:prstGeom>
          <a:noFill/>
          <a:ln/>
        </p:spPr>
        <p:txBody>
          <a:bodyPr wrap="square" lIns="0" tIns="0" rIns="0" bIns="0" rtlCol="0" anchor="ctr"/>
          <a:lstStyle/>
          <a:p>
            <a:pPr indent="0" marL="0">
              <a:buNone/>
            </a:pPr>
            <a:r>
              <a:rPr lang="en-US" sz="1500" b="1" dirty="0">
                <a:solidFill>
                  <a:srgbClr val="16303A"/>
                </a:solidFill>
                <a:latin typeface="Calibri" pitchFamily="34" charset="0"/>
                <a:ea typeface="Calibri" pitchFamily="34" charset="-122"/>
                <a:cs typeface="Calibri" pitchFamily="34" charset="-120"/>
              </a:rPr>
              <a:t>Gamification</a:t>
            </a:r>
            <a:endParaRPr lang="en-US" sz="1500" dirty="0"/>
          </a:p>
        </p:txBody>
      </p:sp>
      <p:sp>
        <p:nvSpPr>
          <p:cNvPr id="20" name="Text 14"/>
          <p:cNvSpPr/>
          <p:nvPr/>
        </p:nvSpPr>
        <p:spPr>
          <a:xfrm>
            <a:off x="6949440" y="3474720"/>
            <a:ext cx="4892040" cy="868680"/>
          </a:xfrm>
          <a:prstGeom prst="rect">
            <a:avLst/>
          </a:prstGeom>
          <a:noFill/>
          <a:ln/>
        </p:spPr>
        <p:txBody>
          <a:bodyPr wrap="square" lIns="0" tIns="0" rIns="0" bIns="0" rtlCol="0" anchor="ctr"/>
          <a:lstStyle/>
          <a:p>
            <a:pPr indent="0" marL="0">
              <a:buNone/>
            </a:pPr>
            <a:r>
              <a:rPr lang="en-US" sz="1200" dirty="0">
                <a:solidFill>
                  <a:srgbClr val="5B7A82"/>
                </a:solidFill>
                <a:latin typeface="Calibri" pitchFamily="34" charset="0"/>
                <a:ea typeface="Calibri" pitchFamily="34" charset="-122"/>
                <a:cs typeface="Calibri" pitchFamily="34" charset="-120"/>
              </a:rPr>
              <a:t>Streaks &amp; badges computed from real logging behavior</a:t>
            </a:r>
            <a:endParaRPr lang="en-US" sz="1200" dirty="0"/>
          </a:p>
        </p:txBody>
      </p:sp>
      <p:sp>
        <p:nvSpPr>
          <p:cNvPr id="21" name="Shape 15"/>
          <p:cNvSpPr/>
          <p:nvPr/>
        </p:nvSpPr>
        <p:spPr>
          <a:xfrm>
            <a:off x="548640" y="4526280"/>
            <a:ext cx="502920" cy="502920"/>
          </a:xfrm>
          <a:prstGeom prst="ellipse">
            <a:avLst/>
          </a:prstGeom>
          <a:solidFill>
            <a:srgbClr val="028090"/>
          </a:solidFill>
          <a:ln/>
        </p:spPr>
      </p:sp>
      <p:pic>
        <p:nvPicPr>
          <p:cNvPr id="22" name="Image 4" descr="preencoded.png">    </p:cNvPr>
          <p:cNvPicPr>
            <a:picLocks noChangeAspect="1"/>
          </p:cNvPicPr>
          <p:nvPr/>
        </p:nvPicPr>
        <p:blipFill>
          <a:blip r:embed="rId5"/>
          <a:stretch>
            <a:fillRect/>
          </a:stretch>
        </p:blipFill>
        <p:spPr>
          <a:xfrm>
            <a:off x="659282" y="4636922"/>
            <a:ext cx="281635" cy="281635"/>
          </a:xfrm>
          <a:prstGeom prst="rect">
            <a:avLst/>
          </a:prstGeom>
        </p:spPr>
      </p:pic>
      <p:sp>
        <p:nvSpPr>
          <p:cNvPr id="23" name="Text 16"/>
          <p:cNvSpPr/>
          <p:nvPr/>
        </p:nvSpPr>
        <p:spPr>
          <a:xfrm>
            <a:off x="1280160" y="4480560"/>
            <a:ext cx="4846320" cy="365760"/>
          </a:xfrm>
          <a:prstGeom prst="rect">
            <a:avLst/>
          </a:prstGeom>
          <a:noFill/>
          <a:ln/>
        </p:spPr>
        <p:txBody>
          <a:bodyPr wrap="square" lIns="0" tIns="0" rIns="0" bIns="0" rtlCol="0" anchor="ctr"/>
          <a:lstStyle/>
          <a:p>
            <a:pPr indent="0" marL="0">
              <a:buNone/>
            </a:pPr>
            <a:r>
              <a:rPr lang="en-US" sz="1500" b="1" dirty="0">
                <a:solidFill>
                  <a:srgbClr val="16303A"/>
                </a:solidFill>
                <a:latin typeface="Calibri" pitchFamily="34" charset="0"/>
                <a:ea typeface="Calibri" pitchFamily="34" charset="-122"/>
                <a:cs typeface="Calibri" pitchFamily="34" charset="-120"/>
              </a:rPr>
              <a:t>Wearable sync</a:t>
            </a:r>
            <a:endParaRPr lang="en-US" sz="1500" dirty="0"/>
          </a:p>
        </p:txBody>
      </p:sp>
      <p:sp>
        <p:nvSpPr>
          <p:cNvPr id="24" name="Text 17"/>
          <p:cNvSpPr/>
          <p:nvPr/>
        </p:nvSpPr>
        <p:spPr>
          <a:xfrm>
            <a:off x="1280160" y="4846320"/>
            <a:ext cx="4892040" cy="868680"/>
          </a:xfrm>
          <a:prstGeom prst="rect">
            <a:avLst/>
          </a:prstGeom>
          <a:noFill/>
          <a:ln/>
        </p:spPr>
        <p:txBody>
          <a:bodyPr wrap="square" lIns="0" tIns="0" rIns="0" bIns="0" rtlCol="0" anchor="ctr"/>
          <a:lstStyle/>
          <a:p>
            <a:pPr indent="0" marL="0">
              <a:buNone/>
            </a:pPr>
            <a:r>
              <a:rPr lang="en-US" sz="1200" dirty="0">
                <a:solidFill>
                  <a:srgbClr val="5B7A82"/>
                </a:solidFill>
                <a:latin typeface="Calibri" pitchFamily="34" charset="0"/>
                <a:ea typeface="Calibri" pitchFamily="34" charset="-122"/>
                <a:cs typeface="Calibri" pitchFamily="34" charset="-120"/>
              </a:rPr>
              <a:t>Google Fit OAuth (nonce-hardened) · Apple Health bridge endpoint</a:t>
            </a:r>
            <a:endParaRPr lang="en-US" sz="1200" dirty="0"/>
          </a:p>
        </p:txBody>
      </p:sp>
      <p:sp>
        <p:nvSpPr>
          <p:cNvPr id="25" name="Shape 18"/>
          <p:cNvSpPr/>
          <p:nvPr/>
        </p:nvSpPr>
        <p:spPr>
          <a:xfrm>
            <a:off x="6217920" y="4526280"/>
            <a:ext cx="502920" cy="502920"/>
          </a:xfrm>
          <a:prstGeom prst="ellipse">
            <a:avLst/>
          </a:prstGeom>
          <a:solidFill>
            <a:srgbClr val="028090"/>
          </a:solidFill>
          <a:ln/>
        </p:spPr>
      </p:sp>
      <p:pic>
        <p:nvPicPr>
          <p:cNvPr id="26" name="Image 5" descr="preencoded.png">    </p:cNvPr>
          <p:cNvPicPr>
            <a:picLocks noChangeAspect="1"/>
          </p:cNvPicPr>
          <p:nvPr/>
        </p:nvPicPr>
        <p:blipFill>
          <a:blip r:embed="rId6"/>
          <a:stretch>
            <a:fillRect/>
          </a:stretch>
        </p:blipFill>
        <p:spPr>
          <a:xfrm>
            <a:off x="6328562" y="4636922"/>
            <a:ext cx="281635" cy="281635"/>
          </a:xfrm>
          <a:prstGeom prst="rect">
            <a:avLst/>
          </a:prstGeom>
        </p:spPr>
      </p:pic>
      <p:sp>
        <p:nvSpPr>
          <p:cNvPr id="27" name="Text 19"/>
          <p:cNvSpPr/>
          <p:nvPr/>
        </p:nvSpPr>
        <p:spPr>
          <a:xfrm>
            <a:off x="6949440" y="4480560"/>
            <a:ext cx="4846320" cy="365760"/>
          </a:xfrm>
          <a:prstGeom prst="rect">
            <a:avLst/>
          </a:prstGeom>
          <a:noFill/>
          <a:ln/>
        </p:spPr>
        <p:txBody>
          <a:bodyPr wrap="square" lIns="0" tIns="0" rIns="0" bIns="0" rtlCol="0" anchor="ctr"/>
          <a:lstStyle/>
          <a:p>
            <a:pPr indent="0" marL="0">
              <a:buNone/>
            </a:pPr>
            <a:r>
              <a:rPr lang="en-US" sz="1500" b="1" dirty="0">
                <a:solidFill>
                  <a:srgbClr val="16303A"/>
                </a:solidFill>
                <a:latin typeface="Calibri" pitchFamily="34" charset="0"/>
                <a:ea typeface="Calibri" pitchFamily="34" charset="-122"/>
                <a:cs typeface="Calibri" pitchFamily="34" charset="-120"/>
              </a:rPr>
              <a:t>Assistant memory</a:t>
            </a:r>
            <a:endParaRPr lang="en-US" sz="1500" dirty="0"/>
          </a:p>
        </p:txBody>
      </p:sp>
      <p:sp>
        <p:nvSpPr>
          <p:cNvPr id="28" name="Text 20"/>
          <p:cNvSpPr/>
          <p:nvPr/>
        </p:nvSpPr>
        <p:spPr>
          <a:xfrm>
            <a:off x="6949440" y="4846320"/>
            <a:ext cx="4892040" cy="868680"/>
          </a:xfrm>
          <a:prstGeom prst="rect">
            <a:avLst/>
          </a:prstGeom>
          <a:noFill/>
          <a:ln/>
        </p:spPr>
        <p:txBody>
          <a:bodyPr wrap="square" lIns="0" tIns="0" rIns="0" bIns="0" rtlCol="0" anchor="ctr"/>
          <a:lstStyle/>
          <a:p>
            <a:pPr indent="0" marL="0">
              <a:buNone/>
            </a:pPr>
            <a:r>
              <a:rPr lang="en-US" sz="1200" dirty="0">
                <a:solidFill>
                  <a:srgbClr val="5B7A82"/>
                </a:solidFill>
                <a:latin typeface="Calibri" pitchFamily="34" charset="0"/>
                <a:ea typeface="Calibri" pitchFamily="34" charset="-122"/>
                <a:cs typeface="Calibri" pitchFamily="34" charset="-120"/>
              </a:rPr>
              <a:t>Durable user facts with a control plane — view, edit, delete, wipe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3 · Adam</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Quality engineering, in numbers</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Every layer has its own regression gate</a:t>
            </a:r>
            <a:endParaRPr lang="en-US" sz="1500" dirty="0"/>
          </a:p>
        </p:txBody>
      </p:sp>
      <p:sp>
        <p:nvSpPr>
          <p:cNvPr id="5" name="Text 3"/>
          <p:cNvSpPr/>
          <p:nvPr/>
        </p:nvSpPr>
        <p:spPr>
          <a:xfrm>
            <a:off x="548640" y="1920240"/>
            <a:ext cx="2697480" cy="86868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891</a:t>
            </a:r>
            <a:endParaRPr lang="en-US" sz="4400" dirty="0"/>
          </a:p>
        </p:txBody>
      </p:sp>
      <p:sp>
        <p:nvSpPr>
          <p:cNvPr id="6" name="Text 4"/>
          <p:cNvSpPr/>
          <p:nvPr/>
        </p:nvSpPr>
        <p:spPr>
          <a:xfrm>
            <a:off x="548640" y="2788920"/>
            <a:ext cx="269748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server Jest tests</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passing</a:t>
            </a:r>
            <a:endParaRPr lang="en-US" sz="1250" dirty="0"/>
          </a:p>
        </p:txBody>
      </p:sp>
      <p:sp>
        <p:nvSpPr>
          <p:cNvPr id="7" name="Text 5"/>
          <p:cNvSpPr/>
          <p:nvPr/>
        </p:nvSpPr>
        <p:spPr>
          <a:xfrm>
            <a:off x="3429000" y="1920240"/>
            <a:ext cx="2697480" cy="868680"/>
          </a:xfrm>
          <a:prstGeom prst="rect">
            <a:avLst/>
          </a:prstGeom>
          <a:noFill/>
          <a:ln/>
        </p:spPr>
        <p:txBody>
          <a:bodyPr wrap="square" lIns="0" tIns="0" rIns="0" bIns="0" rtlCol="0" anchor="ctr"/>
          <a:lstStyle/>
          <a:p>
            <a:pPr algn="ctr" indent="0" marL="0">
              <a:buNone/>
            </a:pPr>
            <a:r>
              <a:rPr lang="en-US" sz="4400" b="1" dirty="0">
                <a:solidFill>
                  <a:srgbClr val="00A896"/>
                </a:solidFill>
                <a:latin typeface="Cambria" pitchFamily="34" charset="0"/>
                <a:ea typeface="Cambria" pitchFamily="34" charset="-122"/>
                <a:cs typeface="Cambria" pitchFamily="34" charset="-120"/>
              </a:rPr>
              <a:t>317</a:t>
            </a:r>
            <a:endParaRPr lang="en-US" sz="4400" dirty="0"/>
          </a:p>
        </p:txBody>
      </p:sp>
      <p:sp>
        <p:nvSpPr>
          <p:cNvPr id="8" name="Text 6"/>
          <p:cNvSpPr/>
          <p:nvPr/>
        </p:nvSpPr>
        <p:spPr>
          <a:xfrm>
            <a:off x="3429000" y="2788920"/>
            <a:ext cx="269748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client Vitest tests</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passing</a:t>
            </a:r>
            <a:endParaRPr lang="en-US" sz="1250" dirty="0"/>
          </a:p>
        </p:txBody>
      </p:sp>
      <p:sp>
        <p:nvSpPr>
          <p:cNvPr id="9" name="Text 7"/>
          <p:cNvSpPr/>
          <p:nvPr/>
        </p:nvSpPr>
        <p:spPr>
          <a:xfrm>
            <a:off x="6309360" y="1920240"/>
            <a:ext cx="2697480" cy="868680"/>
          </a:xfrm>
          <a:prstGeom prst="rect">
            <a:avLst/>
          </a:prstGeom>
          <a:noFill/>
          <a:ln/>
        </p:spPr>
        <p:txBody>
          <a:bodyPr wrap="square" lIns="0" tIns="0" rIns="0" bIns="0" rtlCol="0" anchor="ctr"/>
          <a:lstStyle/>
          <a:p>
            <a:pPr algn="ctr" indent="0" marL="0">
              <a:buNone/>
            </a:pPr>
            <a:r>
              <a:rPr lang="en-US" sz="4400" b="1" dirty="0">
                <a:solidFill>
                  <a:srgbClr val="07333B"/>
                </a:solidFill>
                <a:latin typeface="Cambria" pitchFamily="34" charset="0"/>
                <a:ea typeface="Cambria" pitchFamily="34" charset="-122"/>
                <a:cs typeface="Cambria" pitchFamily="34" charset="-120"/>
              </a:rPr>
              <a:t>22</a:t>
            </a:r>
            <a:endParaRPr lang="en-US" sz="4400" dirty="0"/>
          </a:p>
        </p:txBody>
      </p:sp>
      <p:sp>
        <p:nvSpPr>
          <p:cNvPr id="10" name="Text 8"/>
          <p:cNvSpPr/>
          <p:nvPr/>
        </p:nvSpPr>
        <p:spPr>
          <a:xfrm>
            <a:off x="6309360" y="2788920"/>
            <a:ext cx="269748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Playwright E2E</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(13 API · 8 UI · 1 OAuth)</a:t>
            </a:r>
            <a:endParaRPr lang="en-US" sz="1250" dirty="0"/>
          </a:p>
        </p:txBody>
      </p:sp>
      <p:sp>
        <p:nvSpPr>
          <p:cNvPr id="11" name="Text 9"/>
          <p:cNvSpPr/>
          <p:nvPr/>
        </p:nvSpPr>
        <p:spPr>
          <a:xfrm>
            <a:off x="9144000" y="1920240"/>
            <a:ext cx="2697480" cy="868680"/>
          </a:xfrm>
          <a:prstGeom prst="rect">
            <a:avLst/>
          </a:prstGeom>
          <a:noFill/>
          <a:ln/>
        </p:spPr>
        <p:txBody>
          <a:bodyPr wrap="square" lIns="0" tIns="0" rIns="0" bIns="0" rtlCol="0" anchor="ctr"/>
          <a:lstStyle/>
          <a:p>
            <a:pPr algn="ctr" indent="0" marL="0">
              <a:buNone/>
            </a:pPr>
            <a:r>
              <a:rPr lang="en-US" sz="4400" b="1" dirty="0">
                <a:solidFill>
                  <a:srgbClr val="02C39A"/>
                </a:solidFill>
                <a:latin typeface="Cambria" pitchFamily="34" charset="0"/>
                <a:ea typeface="Cambria" pitchFamily="34" charset="-122"/>
                <a:cs typeface="Cambria" pitchFamily="34" charset="-120"/>
              </a:rPr>
              <a:t>100%</a:t>
            </a:r>
            <a:endParaRPr lang="en-US" sz="4400" dirty="0"/>
          </a:p>
        </p:txBody>
      </p:sp>
      <p:sp>
        <p:nvSpPr>
          <p:cNvPr id="12" name="Text 10"/>
          <p:cNvSpPr/>
          <p:nvPr/>
        </p:nvSpPr>
        <p:spPr>
          <a:xfrm>
            <a:off x="9144000" y="2788920"/>
            <a:ext cx="269748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coverage gate on new</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assistant &amp; voice modules</a:t>
            </a:r>
            <a:endParaRPr lang="en-US" sz="1250" dirty="0"/>
          </a:p>
        </p:txBody>
      </p:sp>
      <p:sp>
        <p:nvSpPr>
          <p:cNvPr id="13" name="Text 11"/>
          <p:cNvSpPr/>
          <p:nvPr/>
        </p:nvSpPr>
        <p:spPr>
          <a:xfrm>
            <a:off x="548640" y="3931920"/>
            <a:ext cx="11155680" cy="21031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6303A"/>
                </a:solidFill>
                <a:latin typeface="Calibri" pitchFamily="34" charset="0"/>
                <a:ea typeface="Calibri" pitchFamily="34" charset="-122"/>
                <a:cs typeface="Calibri" pitchFamily="34" charset="-120"/>
              </a:rPr>
              <a:t>Bilingual golden-case gates for intent routing and cross-domain extraction — accuracy regressions block the merge</a:t>
            </a:r>
            <a:endParaRPr lang="en-US" sz="1400" dirty="0"/>
          </a:p>
          <a:p>
            <a:pPr marL="177800" indent="-177800">
              <a:spcAft>
                <a:spcPts val="1000"/>
              </a:spcAft>
              <a:buSzPct val="100000"/>
              <a:buChar char="•"/>
            </a:pPr>
            <a:r>
              <a:rPr lang="en-US" sz="1400" dirty="0">
                <a:solidFill>
                  <a:srgbClr val="16303A"/>
                </a:solidFill>
                <a:latin typeface="Calibri" pitchFamily="34" charset="0"/>
                <a:ea typeface="Calibri" pitchFamily="34" charset="-122"/>
                <a:cs typeface="Calibri" pitchFamily="34" charset="-120"/>
              </a:rPr>
              <a:t>A model-eval harness caught a real production bug: English chats drifting into Chinese on a free-tier model — fixed &amp; re-verified to 100% reply-language compliance</a:t>
            </a:r>
            <a:endParaRPr lang="en-US" sz="1400" dirty="0"/>
          </a:p>
          <a:p>
            <a:pPr marL="177800" indent="-177800">
              <a:spcAft>
                <a:spcPts val="1000"/>
              </a:spcAft>
              <a:buSzPct val="100000"/>
              <a:buChar char="•"/>
            </a:pPr>
            <a:r>
              <a:rPr lang="en-US" sz="1400" dirty="0">
                <a:solidFill>
                  <a:srgbClr val="16303A"/>
                </a:solidFill>
                <a:latin typeface="Calibri" pitchFamily="34" charset="0"/>
                <a:ea typeface="Calibri" pitchFamily="34" charset="-122"/>
                <a:cs typeface="Calibri" pitchFamily="34" charset="-120"/>
              </a:rPr>
              <a:t>Encryption, OAuth-state, SSE-abort and rate-limit behaviors each have dedicated regression suites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3 · Adam</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Verified against production — this week</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We test the deployed system, not just the code</a:t>
            </a:r>
            <a:endParaRPr lang="en-US" sz="1500" dirty="0"/>
          </a:p>
        </p:txBody>
      </p:sp>
      <p:sp>
        <p:nvSpPr>
          <p:cNvPr id="5" name="Text 3"/>
          <p:cNvSpPr/>
          <p:nvPr/>
        </p:nvSpPr>
        <p:spPr>
          <a:xfrm>
            <a:off x="548640" y="1965960"/>
            <a:ext cx="3566160" cy="86868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59 / 59</a:t>
            </a:r>
            <a:endParaRPr lang="en-US" sz="4400" dirty="0"/>
          </a:p>
        </p:txBody>
      </p:sp>
      <p:sp>
        <p:nvSpPr>
          <p:cNvPr id="6" name="Text 4"/>
          <p:cNvSpPr/>
          <p:nvPr/>
        </p:nvSpPr>
        <p:spPr>
          <a:xfrm>
            <a:off x="548640" y="2834640"/>
            <a:ext cx="356616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live QA probes passing against</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the production deployment</a:t>
            </a:r>
            <a:endParaRPr lang="en-US" sz="1250" dirty="0"/>
          </a:p>
        </p:txBody>
      </p:sp>
      <p:sp>
        <p:nvSpPr>
          <p:cNvPr id="7" name="Text 5"/>
          <p:cNvSpPr/>
          <p:nvPr/>
        </p:nvSpPr>
        <p:spPr>
          <a:xfrm>
            <a:off x="4480560" y="1965960"/>
            <a:ext cx="3291840" cy="868680"/>
          </a:xfrm>
          <a:prstGeom prst="rect">
            <a:avLst/>
          </a:prstGeom>
          <a:noFill/>
          <a:ln/>
        </p:spPr>
        <p:txBody>
          <a:bodyPr wrap="square" lIns="0" tIns="0" rIns="0" bIns="0" rtlCol="0" anchor="ctr"/>
          <a:lstStyle/>
          <a:p>
            <a:pPr algn="ctr" indent="0" marL="0">
              <a:buNone/>
            </a:pPr>
            <a:r>
              <a:rPr lang="en-US" sz="4400" b="1" dirty="0">
                <a:solidFill>
                  <a:srgbClr val="00A896"/>
                </a:solidFill>
                <a:latin typeface="Cambria" pitchFamily="34" charset="0"/>
                <a:ea typeface="Cambria" pitchFamily="34" charset="-122"/>
                <a:cs typeface="Cambria" pitchFamily="34" charset="-120"/>
              </a:rPr>
              <a:t>4 / 4</a:t>
            </a:r>
            <a:endParaRPr lang="en-US" sz="4400" dirty="0"/>
          </a:p>
        </p:txBody>
      </p:sp>
      <p:sp>
        <p:nvSpPr>
          <p:cNvPr id="8" name="Text 6"/>
          <p:cNvSpPr/>
          <p:nvPr/>
        </p:nvSpPr>
        <p:spPr>
          <a:xfrm>
            <a:off x="4480560" y="2834640"/>
            <a:ext cx="329184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BERT intents correct on live</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classifier, conf &gt; 0.98</a:t>
            </a:r>
            <a:endParaRPr lang="en-US" sz="1250" dirty="0"/>
          </a:p>
        </p:txBody>
      </p:sp>
      <p:sp>
        <p:nvSpPr>
          <p:cNvPr id="9" name="Text 7"/>
          <p:cNvSpPr/>
          <p:nvPr/>
        </p:nvSpPr>
        <p:spPr>
          <a:xfrm>
            <a:off x="8138160" y="1965960"/>
            <a:ext cx="3566160" cy="868680"/>
          </a:xfrm>
          <a:prstGeom prst="rect">
            <a:avLst/>
          </a:prstGeom>
          <a:noFill/>
          <a:ln/>
        </p:spPr>
        <p:txBody>
          <a:bodyPr wrap="square" lIns="0" tIns="0" rIns="0" bIns="0" rtlCol="0" anchor="ctr"/>
          <a:lstStyle/>
          <a:p>
            <a:pPr algn="ctr" indent="0" marL="0">
              <a:buNone/>
            </a:pPr>
            <a:r>
              <a:rPr lang="en-US" sz="4400" b="1" dirty="0">
                <a:solidFill>
                  <a:srgbClr val="07333B"/>
                </a:solidFill>
                <a:latin typeface="Cambria" pitchFamily="34" charset="0"/>
                <a:ea typeface="Cambria" pitchFamily="34" charset="-122"/>
                <a:cs typeface="Cambria" pitchFamily="34" charset="-120"/>
              </a:rPr>
              <a:t>10 / 10</a:t>
            </a:r>
            <a:endParaRPr lang="en-US" sz="4400" dirty="0"/>
          </a:p>
        </p:txBody>
      </p:sp>
      <p:sp>
        <p:nvSpPr>
          <p:cNvPr id="10" name="Text 8"/>
          <p:cNvSpPr/>
          <p:nvPr/>
        </p:nvSpPr>
        <p:spPr>
          <a:xfrm>
            <a:off x="8138160" y="2834640"/>
            <a:ext cx="3566160" cy="594360"/>
          </a:xfrm>
          <a:prstGeom prst="rect">
            <a:avLst/>
          </a:prstGeom>
          <a:noFill/>
          <a:ln/>
        </p:spPr>
        <p:txBody>
          <a:bodyPr wrap="square" lIns="0" tIns="0" rIns="0" bIns="0" rtlCol="0" anchor="ctr"/>
          <a:lstStyle/>
          <a:p>
            <a:pPr algn="ctr" indent="0" marL="0">
              <a:buNone/>
            </a:pPr>
            <a:r>
              <a:rPr lang="en-US" sz="1250" dirty="0">
                <a:solidFill>
                  <a:srgbClr val="5B7A82"/>
                </a:solidFill>
                <a:latin typeface="Calibri" pitchFamily="34" charset="0"/>
                <a:ea typeface="Calibri" pitchFamily="34" charset="-122"/>
                <a:cs typeface="Calibri" pitchFamily="34" charset="-120"/>
              </a:rPr>
              <a:t>post-deploy smoke checks green</a:t>
            </a:r>
            <a:endParaRPr lang="en-US" sz="1250" dirty="0"/>
          </a:p>
          <a:p>
            <a:pPr algn="ctr" indent="0" marL="0">
              <a:buNone/>
            </a:pPr>
            <a:r>
              <a:rPr lang="en-US" sz="1250" dirty="0">
                <a:solidFill>
                  <a:srgbClr val="5B7A82"/>
                </a:solidFill>
                <a:latin typeface="Calibri" pitchFamily="34" charset="0"/>
                <a:ea typeface="Calibri" pitchFamily="34" charset="-122"/>
                <a:cs typeface="Calibri" pitchFamily="34" charset="-120"/>
              </a:rPr>
              <a:t>(pages · API · AI · voice)</a:t>
            </a:r>
            <a:endParaRPr lang="en-US" sz="1250" dirty="0"/>
          </a:p>
        </p:txBody>
      </p:sp>
      <p:sp>
        <p:nvSpPr>
          <p:cNvPr id="11" name="Text 9"/>
          <p:cNvSpPr/>
          <p:nvPr/>
        </p:nvSpPr>
        <p:spPr>
          <a:xfrm>
            <a:off x="548640" y="3977640"/>
            <a:ext cx="11155680" cy="2011680"/>
          </a:xfrm>
          <a:prstGeom prst="rect">
            <a:avLst/>
          </a:prstGeom>
          <a:noFill/>
          <a:ln/>
        </p:spPr>
        <p:txBody>
          <a:bodyPr wrap="square" lIns="0" tIns="0" rIns="0" bIns="0" rtlCol="0" anchor="t"/>
          <a:lstStyle/>
          <a:p>
            <a:pPr marL="177800" indent="-177800">
              <a:spcAft>
                <a:spcPts val="1000"/>
              </a:spcAft>
              <a:buSzPct val="100000"/>
              <a:buChar char="•"/>
            </a:pPr>
            <a:r>
              <a:rPr lang="en-US" sz="1450" dirty="0">
                <a:solidFill>
                  <a:srgbClr val="16303A"/>
                </a:solidFill>
                <a:latin typeface="Calibri" pitchFamily="34" charset="0"/>
                <a:ea typeface="Calibri" pitchFamily="34" charset="-122"/>
                <a:cs typeface="Calibri" pitchFamily="34" charset="-120"/>
              </a:rPr>
              <a:t>Auth posture probed endpoint-by-endpoint on prod: every protected route returns 401 unauthenticated</a:t>
            </a:r>
            <a:endParaRPr lang="en-US" sz="1450" dirty="0"/>
          </a:p>
          <a:p>
            <a:pPr marL="177800" indent="-177800">
              <a:spcAft>
                <a:spcPts val="1000"/>
              </a:spcAft>
              <a:buSzPct val="100000"/>
              <a:buChar char="•"/>
            </a:pPr>
            <a:r>
              <a:rPr lang="en-US" sz="1450" dirty="0">
                <a:solidFill>
                  <a:srgbClr val="16303A"/>
                </a:solidFill>
                <a:latin typeface="Calibri" pitchFamily="34" charset="0"/>
                <a:ea typeface="Calibri" pitchFamily="34" charset="-122"/>
                <a:cs typeface="Calibri" pitchFamily="34" charset="-120"/>
              </a:rPr>
              <a:t>Encryption migration proven on live data: pre-migration rows decrypt, new AES-GCM rows round-trip</a:t>
            </a:r>
            <a:endParaRPr lang="en-US" sz="1450" dirty="0"/>
          </a:p>
          <a:p>
            <a:pPr marL="177800" indent="-177800">
              <a:spcAft>
                <a:spcPts val="1000"/>
              </a:spcAft>
              <a:buSzPct val="100000"/>
              <a:buChar char="•"/>
            </a:pPr>
            <a:r>
              <a:rPr lang="en-US" sz="1450" dirty="0">
                <a:solidFill>
                  <a:srgbClr val="16303A"/>
                </a:solidFill>
                <a:latin typeface="Calibri" pitchFamily="34" charset="0"/>
                <a:ea typeface="Calibri" pitchFamily="34" charset="-122"/>
                <a:cs typeface="Calibri" pitchFamily="34" charset="-120"/>
              </a:rPr>
              <a:t>Real Arabic &amp; English chat probes on prod: correct intent, correct language, correct data written</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439912" y="256032"/>
            <a:ext cx="3200400" cy="274320"/>
          </a:xfrm>
          <a:prstGeom prst="rect">
            <a:avLst/>
          </a:prstGeom>
          <a:noFill/>
          <a:ln/>
        </p:spPr>
        <p:txBody>
          <a:bodyPr wrap="square" lIns="0" tIns="0" rIns="0" bIns="0" rtlCol="0" anchor="ctr"/>
          <a:lstStyle/>
          <a:p>
            <a:pPr algn="r" indent="0" marL="0">
              <a:buNone/>
            </a:pPr>
            <a:r>
              <a:rPr lang="en-US" sz="1100" i="1" dirty="0">
                <a:solidFill>
                  <a:srgbClr val="5B7A82"/>
                </a:solidFill>
                <a:latin typeface="Calibri" pitchFamily="34" charset="0"/>
                <a:ea typeface="Calibri" pitchFamily="34" charset="-122"/>
                <a:cs typeface="Calibri" pitchFamily="34" charset="-120"/>
              </a:rPr>
              <a:t>Part 3 · Adam</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indent="0" marL="0">
              <a:buNone/>
            </a:pPr>
            <a:r>
              <a:rPr lang="en-US" sz="3200" b="1" dirty="0">
                <a:solidFill>
                  <a:srgbClr val="16303A"/>
                </a:solidFill>
                <a:latin typeface="Cambria" pitchFamily="34" charset="0"/>
                <a:ea typeface="Cambria" pitchFamily="34" charset="-122"/>
                <a:cs typeface="Cambria" pitchFamily="34" charset="-120"/>
              </a:rPr>
              <a:t>Honest limitations &amp; where this goes</a:t>
            </a:r>
            <a:endParaRPr lang="en-US" sz="3200" dirty="0"/>
          </a:p>
        </p:txBody>
      </p:sp>
      <p:sp>
        <p:nvSpPr>
          <p:cNvPr id="4" name="Text 2"/>
          <p:cNvSpPr/>
          <p:nvPr/>
        </p:nvSpPr>
        <p:spPr>
          <a:xfrm>
            <a:off x="548640" y="1115568"/>
            <a:ext cx="10515600" cy="365760"/>
          </a:xfrm>
          <a:prstGeom prst="rect">
            <a:avLst/>
          </a:prstGeom>
          <a:noFill/>
          <a:ln/>
        </p:spPr>
        <p:txBody>
          <a:bodyPr wrap="square" lIns="0" tIns="0" rIns="0" bIns="0" rtlCol="0" anchor="ctr"/>
          <a:lstStyle/>
          <a:p>
            <a:pPr indent="0" marL="0">
              <a:buNone/>
            </a:pPr>
            <a:r>
              <a:rPr lang="en-US" sz="1500" i="1" dirty="0">
                <a:solidFill>
                  <a:srgbClr val="028090"/>
                </a:solidFill>
                <a:latin typeface="Calibri" pitchFamily="34" charset="0"/>
                <a:ea typeface="Calibri" pitchFamily="34" charset="-122"/>
                <a:cs typeface="Calibri" pitchFamily="34" charset="-120"/>
              </a:rPr>
              <a:t>Engineering means knowing what is not done</a:t>
            </a:r>
            <a:endParaRPr lang="en-US" sz="1500" dirty="0"/>
          </a:p>
        </p:txBody>
      </p:sp>
      <p:sp>
        <p:nvSpPr>
          <p:cNvPr id="5" name="Shape 3"/>
          <p:cNvSpPr/>
          <p:nvPr/>
        </p:nvSpPr>
        <p:spPr>
          <a:xfrm>
            <a:off x="548640" y="1783080"/>
            <a:ext cx="5394960" cy="4114800"/>
          </a:xfrm>
          <a:prstGeom prst="roundRect">
            <a:avLst>
              <a:gd name="adj" fmla="val 2000"/>
            </a:avLst>
          </a:prstGeom>
          <a:solidFill>
            <a:srgbClr val="EAF4F4"/>
          </a:solidFill>
          <a:ln/>
        </p:spPr>
      </p:sp>
      <p:sp>
        <p:nvSpPr>
          <p:cNvPr id="6" name="Text 4"/>
          <p:cNvSpPr/>
          <p:nvPr/>
        </p:nvSpPr>
        <p:spPr>
          <a:xfrm>
            <a:off x="868680" y="2011680"/>
            <a:ext cx="4572000" cy="36576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Current limits</a:t>
            </a:r>
            <a:endParaRPr lang="en-US" sz="1700" dirty="0"/>
          </a:p>
        </p:txBody>
      </p:sp>
      <p:sp>
        <p:nvSpPr>
          <p:cNvPr id="7" name="Text 5"/>
          <p:cNvSpPr/>
          <p:nvPr/>
        </p:nvSpPr>
        <p:spPr>
          <a:xfrm>
            <a:off x="868680" y="2468880"/>
            <a:ext cx="4846320" cy="320040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16303A"/>
                </a:solidFill>
                <a:latin typeface="Calibri" pitchFamily="34" charset="0"/>
                <a:ea typeface="Calibri" pitchFamily="34" charset="-122"/>
                <a:cs typeface="Calibri" pitchFamily="34" charset="-120"/>
              </a:rPr>
              <a:t>Two languages — third needs lexicon + detector widening (designed for it)</a:t>
            </a:r>
            <a:endParaRPr lang="en-US" sz="1300" dirty="0"/>
          </a:p>
          <a:p>
            <a:pPr marL="177800" indent="-177800">
              <a:spcAft>
                <a:spcPts val="1000"/>
              </a:spcAft>
              <a:buSzPct val="100000"/>
              <a:buChar char="•"/>
            </a:pPr>
            <a:r>
              <a:rPr lang="en-US" sz="1300" dirty="0">
                <a:solidFill>
                  <a:srgbClr val="16303A"/>
                </a:solidFill>
                <a:latin typeface="Calibri" pitchFamily="34" charset="0"/>
                <a:ea typeface="Calibri" pitchFamily="34" charset="-122"/>
                <a:cs typeface="Calibri" pitchFamily="34" charset="-120"/>
              </a:rPr>
              <a:t>Free-tier cloud models rate-limit under load; BYOK / paid keys solve it</a:t>
            </a:r>
            <a:endParaRPr lang="en-US" sz="1300" dirty="0"/>
          </a:p>
          <a:p>
            <a:pPr marL="177800" indent="-177800">
              <a:spcAft>
                <a:spcPts val="1000"/>
              </a:spcAft>
              <a:buSzPct val="100000"/>
              <a:buChar char="•"/>
            </a:pPr>
            <a:r>
              <a:rPr lang="en-US" sz="1300" dirty="0">
                <a:solidFill>
                  <a:srgbClr val="16303A"/>
                </a:solidFill>
                <a:latin typeface="Calibri" pitchFamily="34" charset="0"/>
                <a:ea typeface="Calibri" pitchFamily="34" charset="-122"/>
                <a:cs typeface="Calibri" pitchFamily="34" charset="-120"/>
              </a:rPr>
              <a:t>Apple Health needs the iOS bridge app — endpoint is ready, app is not</a:t>
            </a:r>
            <a:endParaRPr lang="en-US" sz="1300" dirty="0"/>
          </a:p>
          <a:p>
            <a:pPr marL="177800" indent="-177800">
              <a:spcAft>
                <a:spcPts val="1000"/>
              </a:spcAft>
              <a:buSzPct val="100000"/>
              <a:buChar char="•"/>
            </a:pPr>
            <a:r>
              <a:rPr lang="en-US" sz="1300" dirty="0">
                <a:solidFill>
                  <a:srgbClr val="16303A"/>
                </a:solidFill>
                <a:latin typeface="Calibri" pitchFamily="34" charset="0"/>
                <a:ea typeface="Calibri" pitchFamily="34" charset="-122"/>
                <a:cs typeface="Calibri" pitchFamily="34" charset="-120"/>
              </a:rPr>
              <a:t>Goal auto-completion &amp; status transitions are a product decision, unbuilt</a:t>
            </a:r>
            <a:endParaRPr lang="en-US" sz="1300" dirty="0"/>
          </a:p>
        </p:txBody>
      </p:sp>
      <p:sp>
        <p:nvSpPr>
          <p:cNvPr id="8" name="Shape 6"/>
          <p:cNvSpPr/>
          <p:nvPr/>
        </p:nvSpPr>
        <p:spPr>
          <a:xfrm>
            <a:off x="6263640" y="1783080"/>
            <a:ext cx="5394960" cy="4114800"/>
          </a:xfrm>
          <a:prstGeom prst="roundRect">
            <a:avLst>
              <a:gd name="adj" fmla="val 2000"/>
            </a:avLst>
          </a:prstGeom>
          <a:solidFill>
            <a:srgbClr val="EAF4F4"/>
          </a:solidFill>
          <a:ln/>
        </p:spPr>
      </p:sp>
      <p:sp>
        <p:nvSpPr>
          <p:cNvPr id="9" name="Text 7"/>
          <p:cNvSpPr/>
          <p:nvPr/>
        </p:nvSpPr>
        <p:spPr>
          <a:xfrm>
            <a:off x="6583680" y="2011680"/>
            <a:ext cx="4572000" cy="36576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Next</a:t>
            </a:r>
            <a:endParaRPr lang="en-US" sz="1700" dirty="0"/>
          </a:p>
        </p:txBody>
      </p:sp>
      <p:sp>
        <p:nvSpPr>
          <p:cNvPr id="10" name="Text 8"/>
          <p:cNvSpPr/>
          <p:nvPr/>
        </p:nvSpPr>
        <p:spPr>
          <a:xfrm>
            <a:off x="6583680" y="2468880"/>
            <a:ext cx="4846320" cy="320040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16303A"/>
                </a:solidFill>
                <a:latin typeface="Calibri" pitchFamily="34" charset="0"/>
                <a:ea typeface="Calibri" pitchFamily="34" charset="-122"/>
                <a:cs typeface="Calibri" pitchFamily="34" charset="-120"/>
              </a:rPr>
              <a:t>Native mobile app (the HealthKit bridge unlocks iOS)</a:t>
            </a:r>
            <a:endParaRPr lang="en-US" sz="1300" dirty="0"/>
          </a:p>
          <a:p>
            <a:pPr marL="177800" indent="-177800">
              <a:spcAft>
                <a:spcPts val="1000"/>
              </a:spcAft>
              <a:buSzPct val="100000"/>
              <a:buChar char="•"/>
            </a:pPr>
            <a:r>
              <a:rPr lang="en-US" sz="1300" dirty="0">
                <a:solidFill>
                  <a:srgbClr val="16303A"/>
                </a:solidFill>
                <a:latin typeface="Calibri" pitchFamily="34" charset="0"/>
                <a:ea typeface="Calibri" pitchFamily="34" charset="-122"/>
                <a:cs typeface="Calibri" pitchFamily="34" charset="-120"/>
              </a:rPr>
              <a:t>Bank-statement import for automatic finance logging</a:t>
            </a:r>
            <a:endParaRPr lang="en-US" sz="1300" dirty="0"/>
          </a:p>
          <a:p>
            <a:pPr marL="177800" indent="-177800">
              <a:spcAft>
                <a:spcPts val="1000"/>
              </a:spcAft>
              <a:buSzPct val="100000"/>
              <a:buChar char="•"/>
            </a:pPr>
            <a:r>
              <a:rPr lang="en-US" sz="1300" dirty="0">
                <a:solidFill>
                  <a:srgbClr val="16303A"/>
                </a:solidFill>
                <a:latin typeface="Calibri" pitchFamily="34" charset="0"/>
                <a:ea typeface="Calibri" pitchFamily="34" charset="-122"/>
                <a:cs typeface="Calibri" pitchFamily="34" charset="-120"/>
              </a:rPr>
              <a:t>Richer correlation models over longer user histories</a:t>
            </a:r>
            <a:endParaRPr lang="en-US" sz="1300" dirty="0"/>
          </a:p>
          <a:p>
            <a:pPr marL="177800" indent="-177800">
              <a:spcAft>
                <a:spcPts val="1000"/>
              </a:spcAft>
              <a:buSzPct val="100000"/>
              <a:buChar char="•"/>
            </a:pPr>
            <a:r>
              <a:rPr lang="en-US" sz="1300" dirty="0">
                <a:solidFill>
                  <a:srgbClr val="16303A"/>
                </a:solidFill>
                <a:latin typeface="Calibri" pitchFamily="34" charset="0"/>
                <a:ea typeface="Calibri" pitchFamily="34" charset="-122"/>
                <a:cs typeface="Calibri" pitchFamily="34" charset="-120"/>
              </a:rPr>
              <a:t>Household / shared-budget multi-user spaces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333B"/>
        </a:solidFill>
      </p:bgPr>
    </p:bg>
    <p:spTree>
      <p:nvGrpSpPr>
        <p:cNvPr id="1" name=""/>
        <p:cNvGrpSpPr/>
        <p:nvPr/>
      </p:nvGrpSpPr>
      <p:grpSpPr>
        <a:xfrm>
          <a:off x="0" y="0"/>
          <a:ext cx="0" cy="0"/>
          <a:chOff x="0" y="0"/>
          <a:chExt cx="0" cy="0"/>
        </a:xfrm>
      </p:grpSpPr>
      <p:sp>
        <p:nvSpPr>
          <p:cNvPr id="2" name="Text 0"/>
          <p:cNvSpPr/>
          <p:nvPr/>
        </p:nvSpPr>
        <p:spPr>
          <a:xfrm>
            <a:off x="0" y="1828800"/>
            <a:ext cx="12188952"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LifeSync</a:t>
            </a:r>
            <a:endParaRPr lang="en-US" sz="4400" dirty="0"/>
          </a:p>
        </p:txBody>
      </p:sp>
      <p:sp>
        <p:nvSpPr>
          <p:cNvPr id="3" name="Text 1"/>
          <p:cNvSpPr/>
          <p:nvPr/>
        </p:nvSpPr>
        <p:spPr>
          <a:xfrm>
            <a:off x="1371600" y="2743200"/>
            <a:ext cx="9445752" cy="457200"/>
          </a:xfrm>
          <a:prstGeom prst="rect">
            <a:avLst/>
          </a:prstGeom>
          <a:noFill/>
          <a:ln/>
        </p:spPr>
        <p:txBody>
          <a:bodyPr wrap="square" lIns="0" tIns="0" rIns="0" bIns="0" rtlCol="0" anchor="ctr"/>
          <a:lstStyle/>
          <a:p>
            <a:pPr algn="ctr" indent="0" marL="0">
              <a:buNone/>
            </a:pPr>
            <a:r>
              <a:rPr lang="en-US" sz="1700" i="1" dirty="0">
                <a:solidFill>
                  <a:srgbClr val="BFE3DC"/>
                </a:solidFill>
                <a:latin typeface="Calibri" pitchFamily="34" charset="0"/>
                <a:ea typeface="Calibri" pitchFamily="34" charset="-122"/>
                <a:cs typeface="Calibri" pitchFamily="34" charset="-120"/>
              </a:rPr>
              <a:t>Talk to your life. It listens, logs, and explains — in your language.</a:t>
            </a:r>
            <a:endParaRPr lang="en-US" sz="1700" dirty="0"/>
          </a:p>
        </p:txBody>
      </p:sp>
      <p:sp>
        <p:nvSpPr>
          <p:cNvPr id="4" name="Text 2"/>
          <p:cNvSpPr/>
          <p:nvPr/>
        </p:nvSpPr>
        <p:spPr>
          <a:xfrm>
            <a:off x="731520" y="3520440"/>
            <a:ext cx="10725912" cy="411480"/>
          </a:xfrm>
          <a:prstGeom prst="rect">
            <a:avLst/>
          </a:prstGeom>
          <a:noFill/>
          <a:ln/>
        </p:spPr>
        <p:txBody>
          <a:bodyPr wrap="square" lIns="0" tIns="0" rIns="0" bIns="0" rtlCol="0" anchor="ctr"/>
          <a:lstStyle/>
          <a:p>
            <a:pPr algn="ctr" indent="0" marL="0">
              <a:buNone/>
            </a:pPr>
            <a:r>
              <a:rPr lang="en-US" sz="1400" dirty="0">
                <a:solidFill>
                  <a:srgbClr val="02C39A"/>
                </a:solidFill>
                <a:latin typeface="Calibri" pitchFamily="34" charset="0"/>
                <a:ea typeface="Calibri" pitchFamily="34" charset="-122"/>
                <a:cs typeface="Calibri" pitchFamily="34" charset="-120"/>
              </a:rPr>
              <a:t>1,200+ automated tests   ·   59/59 live production QA   ·   96.7% intent routing   ·   bilingual   ·   deployed</a:t>
            </a:r>
            <a:endParaRPr lang="en-US" sz="1400" dirty="0"/>
          </a:p>
        </p:txBody>
      </p:sp>
      <p:sp>
        <p:nvSpPr>
          <p:cNvPr id="5" name="Text 3"/>
          <p:cNvSpPr/>
          <p:nvPr/>
        </p:nvSpPr>
        <p:spPr>
          <a:xfrm>
            <a:off x="0" y="4572000"/>
            <a:ext cx="12188952"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Thank you — questions welcome</a:t>
            </a:r>
            <a:endParaRPr lang="en-US" sz="2400" dirty="0"/>
          </a:p>
        </p:txBody>
      </p:sp>
      <p:sp>
        <p:nvSpPr>
          <p:cNvPr id="6" name="Text 4"/>
          <p:cNvSpPr/>
          <p:nvPr/>
        </p:nvSpPr>
        <p:spPr>
          <a:xfrm>
            <a:off x="0" y="5257800"/>
            <a:ext cx="12188952" cy="365760"/>
          </a:xfrm>
          <a:prstGeom prst="rect">
            <a:avLst/>
          </a:prstGeom>
          <a:noFill/>
          <a:ln/>
        </p:spPr>
        <p:txBody>
          <a:bodyPr wrap="square" lIns="0" tIns="0" rIns="0" bIns="0" rtlCol="0" anchor="ctr"/>
          <a:lstStyle/>
          <a:p>
            <a:pPr algn="ctr" indent="0" marL="0">
              <a:buNone/>
            </a:pPr>
            <a:r>
              <a:rPr lang="en-US" sz="1250" dirty="0">
                <a:solidFill>
                  <a:srgbClr val="8FB8B2"/>
                </a:solidFill>
                <a:latin typeface="Calibri" pitchFamily="34" charset="0"/>
                <a:ea typeface="Calibri" pitchFamily="34" charset="-122"/>
                <a:cs typeface="Calibri" pitchFamily="34" charset="-120"/>
              </a:rPr>
              <a:t>Osama Abu Jarad · Abdallah Aabed · Adam Weheidi   —   COMP4200, Birzeit University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2026-07-13T16:34:25Z</dcterms:created>
  <dcterms:modified xsi:type="dcterms:W3CDTF">2026-07-13T16:34:25Z</dcterms:modified>
</cp:coreProperties>
</file>